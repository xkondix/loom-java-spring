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y="5143500" cx="9144000"/>
  <p:notesSz cx="6858000" cy="9144000"/>
  <p:embeddedFontLst>
    <p:embeddedFont>
      <p:font typeface="Amatic SC"/>
      <p:regular r:id="rId47"/>
      <p:bold r:id="rId48"/>
    </p:embeddedFont>
    <p:embeddedFont>
      <p:font typeface="Montserrat"/>
      <p:regular r:id="rId49"/>
      <p:bold r:id="rId50"/>
      <p:italic r:id="rId51"/>
      <p:boldItalic r:id="rId52"/>
    </p:embeddedFont>
    <p:embeddedFont>
      <p:font typeface="Lato"/>
      <p:regular r:id="rId53"/>
      <p:bold r:id="rId54"/>
      <p:italic r:id="rId55"/>
      <p:boldItalic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9AC8E0-F225-467A-BC89-FB847464E10C}">
  <a:tblStyle styleId="{429AC8E0-F225-467A-BC89-FB847464E1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AmaticSC-bold.fntdata"/><Relationship Id="rId47" Type="http://schemas.openxmlformats.org/officeDocument/2006/relationships/font" Target="fonts/AmaticSC-regular.fntdata"/><Relationship Id="rId49" Type="http://schemas.openxmlformats.org/officeDocument/2006/relationships/font" Target="fonts/Montserra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Montserrat-italic.fntdata"/><Relationship Id="rId50" Type="http://schemas.openxmlformats.org/officeDocument/2006/relationships/font" Target="fonts/Montserrat-bold.fntdata"/><Relationship Id="rId53" Type="http://schemas.openxmlformats.org/officeDocument/2006/relationships/font" Target="fonts/Lato-regular.fntdata"/><Relationship Id="rId52" Type="http://schemas.openxmlformats.org/officeDocument/2006/relationships/font" Target="fonts/Montserrat-boldItalic.fntdata"/><Relationship Id="rId11" Type="http://schemas.openxmlformats.org/officeDocument/2006/relationships/slide" Target="slides/slide5.xml"/><Relationship Id="rId55" Type="http://schemas.openxmlformats.org/officeDocument/2006/relationships/font" Target="fonts/Lato-italic.fntdata"/><Relationship Id="rId10" Type="http://schemas.openxmlformats.org/officeDocument/2006/relationships/slide" Target="slides/slide4.xml"/><Relationship Id="rId54" Type="http://schemas.openxmlformats.org/officeDocument/2006/relationships/font" Target="fonts/La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56" Type="http://schemas.openxmlformats.org/officeDocument/2006/relationships/font" Target="fonts/La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10ff0ac51_0_3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10ff0ac51_0_3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3a9d26de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3a9d26de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63a9d26de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63a9d26de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12d7c905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712d7c905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12d7c9055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12d7c9055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10ff0ac51_0_5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10ff0ac51_0_5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710ff0ac51_0_4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710ff0ac51_0_4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710ff0ac51_0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710ff0ac51_0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63a9d26d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63a9d26d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3af01f438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63af01f438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63a9d26de6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63a9d26de6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63a9d26de6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63a9d26de6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72a237054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72a237054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72a237054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72a237054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72a237054d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72a237054d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63af01f43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63af01f43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63af01f438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63af01f438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72b8d9ffe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72b8d9ffe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63d11f15e3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63d11f15e3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739cdc3fb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739cdc3fb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36ab0ca0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36ab0ca0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736ab0ca0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736ab0ca0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63f98ea77a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363f98ea77a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63f98ea77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63f98ea77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63f98ea77a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63f98ea77a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63f98ea77a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63f98ea77a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63f98ea77a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63f98ea77a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63f98ea77a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63f98ea77a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63f98ea77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63f98ea77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63f98ea77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63f98ea77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74822b704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74822b704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74822b704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74822b704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74822b704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3" name="Google Shape;423;g374822b704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74822b704e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74822b704e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4822b704e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74822b704e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74822b704e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74822b704e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7439bf51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7439bf51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7439bf51a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7439bf51a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7439bf51a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7439bf51a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xkondix/loom-JAVA-SPRING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winlibs.com/#download-release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Relationship Id="rId4" Type="http://schemas.openxmlformats.org/officeDocument/2006/relationships/image" Target="../media/image1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4.png"/><Relationship Id="rId4" Type="http://schemas.openxmlformats.org/officeDocument/2006/relationships/image" Target="../media/image2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Relationship Id="rId4" Type="http://schemas.openxmlformats.org/officeDocument/2006/relationships/image" Target="../media/image2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5.png"/><Relationship Id="rId4" Type="http://schemas.openxmlformats.org/officeDocument/2006/relationships/image" Target="../media/image3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4.png"/><Relationship Id="rId4" Type="http://schemas.openxmlformats.org/officeDocument/2006/relationships/image" Target="../media/image44.png"/><Relationship Id="rId9" Type="http://schemas.openxmlformats.org/officeDocument/2006/relationships/image" Target="../media/image48.png"/><Relationship Id="rId5" Type="http://schemas.openxmlformats.org/officeDocument/2006/relationships/image" Target="../media/image20.png"/><Relationship Id="rId6" Type="http://schemas.openxmlformats.org/officeDocument/2006/relationships/image" Target="../media/image29.png"/><Relationship Id="rId7" Type="http://schemas.openxmlformats.org/officeDocument/2006/relationships/image" Target="../media/image39.png"/><Relationship Id="rId8" Type="http://schemas.openxmlformats.org/officeDocument/2006/relationships/image" Target="../media/image3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3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5" Type="http://schemas.openxmlformats.org/officeDocument/2006/relationships/image" Target="../media/image41.png"/><Relationship Id="rId6" Type="http://schemas.openxmlformats.org/officeDocument/2006/relationships/image" Target="../media/image47.png"/><Relationship Id="rId7" Type="http://schemas.openxmlformats.org/officeDocument/2006/relationships/image" Target="../media/image42.png"/><Relationship Id="rId8" Type="http://schemas.openxmlformats.org/officeDocument/2006/relationships/image" Target="../media/image4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9" Type="http://schemas.openxmlformats.org/officeDocument/2006/relationships/image" Target="../media/image57.png"/><Relationship Id="rId5" Type="http://schemas.openxmlformats.org/officeDocument/2006/relationships/image" Target="../media/image49.png"/><Relationship Id="rId6" Type="http://schemas.openxmlformats.org/officeDocument/2006/relationships/image" Target="../media/image55.png"/><Relationship Id="rId7" Type="http://schemas.openxmlformats.org/officeDocument/2006/relationships/image" Target="../media/image52.png"/><Relationship Id="rId8" Type="http://schemas.openxmlformats.org/officeDocument/2006/relationships/image" Target="../media/image5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6.png"/><Relationship Id="rId4" Type="http://schemas.openxmlformats.org/officeDocument/2006/relationships/image" Target="../media/image6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6.png"/><Relationship Id="rId4" Type="http://schemas.openxmlformats.org/officeDocument/2006/relationships/image" Target="../media/image53.png"/><Relationship Id="rId10" Type="http://schemas.openxmlformats.org/officeDocument/2006/relationships/image" Target="../media/image60.png"/><Relationship Id="rId9" Type="http://schemas.openxmlformats.org/officeDocument/2006/relationships/image" Target="../media/image58.png"/><Relationship Id="rId5" Type="http://schemas.openxmlformats.org/officeDocument/2006/relationships/image" Target="../media/image54.png"/><Relationship Id="rId6" Type="http://schemas.openxmlformats.org/officeDocument/2006/relationships/image" Target="../media/image61.png"/><Relationship Id="rId7" Type="http://schemas.openxmlformats.org/officeDocument/2006/relationships/image" Target="../media/image62.png"/><Relationship Id="rId8" Type="http://schemas.openxmlformats.org/officeDocument/2006/relationships/image" Target="../media/image65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7.png"/><Relationship Id="rId4" Type="http://schemas.openxmlformats.org/officeDocument/2006/relationships/hyperlink" Target="https://openjdk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Project Loom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Author: Konrad Kowalczyk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Repository: </a:t>
            </a:r>
            <a:r>
              <a:rPr lang="pl" u="sng">
                <a:solidFill>
                  <a:schemeClr val="hlink"/>
                </a:solidFill>
                <a:hlinkClick r:id="rId3"/>
              </a:rPr>
              <a:t>xkondix loom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Presentation Plan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38865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</a:t>
            </a:r>
            <a:r>
              <a:rPr lang="pl"/>
              <a:t>irtual Threads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Continuation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Examples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Scoped Value</a:t>
            </a:r>
            <a:endParaRPr/>
          </a:p>
          <a:p>
            <a:pPr indent="-31115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Structured Concurrency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+ Spring Boot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0"/>
              </a:spcAft>
              <a:buSzPts val="1300"/>
              <a:buChar char="●"/>
            </a:pPr>
            <a:r>
              <a:rPr lang="pl"/>
              <a:t>Virtual Threads vs  Completable Future</a:t>
            </a:r>
            <a:endParaRPr/>
          </a:p>
          <a:p>
            <a:pPr indent="-311150" lvl="0" marL="457200" rtl="0" algn="l">
              <a:spcBef>
                <a:spcPts val="1000"/>
              </a:spcBef>
              <a:spcAft>
                <a:spcPts val="1200"/>
              </a:spcAft>
              <a:buSzPts val="1300"/>
              <a:buChar char="●"/>
            </a:pPr>
            <a:r>
              <a:rPr lang="pl"/>
              <a:t>Questions</a:t>
            </a:r>
            <a:endParaRPr/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4479" y="1567550"/>
            <a:ext cx="3655200" cy="243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&amp; Platform &amp; OS Threads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54925" y="1307850"/>
            <a:ext cx="3938400" cy="3037200"/>
          </a:xfrm>
          <a:prstGeom prst="rect">
            <a:avLst/>
          </a:prstGeom>
          <a:effectLst>
            <a:outerShdw blurRad="57150" rotWithShape="0" algn="bl" dist="2857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450000">
            <a:normAutofit fontScale="25000" lnSpcReduction="20000"/>
          </a:bodyPr>
          <a:lstStyle/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Both </a:t>
            </a:r>
            <a:r>
              <a:rPr b="1" lang="pl" sz="3775"/>
              <a:t>Platform</a:t>
            </a:r>
            <a:r>
              <a:rPr lang="pl" sz="3775"/>
              <a:t> and </a:t>
            </a:r>
            <a:r>
              <a:rPr b="1" lang="pl" sz="3775"/>
              <a:t>Virtual Threads</a:t>
            </a:r>
            <a:r>
              <a:rPr lang="pl" sz="3775"/>
              <a:t> are </a:t>
            </a:r>
            <a:r>
              <a:rPr b="1" lang="pl" sz="3775"/>
              <a:t>managed by the JVM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Platform Threads</a:t>
            </a:r>
            <a:r>
              <a:rPr lang="pl" sz="3775"/>
              <a:t> are heavyweight and have a </a:t>
            </a:r>
            <a:r>
              <a:rPr b="1" lang="pl" sz="3775"/>
              <a:t>1:1</a:t>
            </a:r>
            <a:r>
              <a:rPr lang="pl" sz="3775"/>
              <a:t> mapping with OS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Virtual Threads</a:t>
            </a:r>
            <a:r>
              <a:rPr lang="pl" sz="3775"/>
              <a:t> are lightweight and have an </a:t>
            </a:r>
            <a:r>
              <a:rPr b="1" lang="pl" sz="3775"/>
              <a:t>n:1</a:t>
            </a:r>
            <a:r>
              <a:rPr lang="pl" sz="3775"/>
              <a:t> mapping to Platform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b="1" lang="pl" sz="3775"/>
              <a:t>Virtual Threads</a:t>
            </a:r>
            <a:r>
              <a:rPr lang="pl" sz="3775"/>
              <a:t> are ideal for tasks with blocking I/O or high concurrency needs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JVM's </a:t>
            </a:r>
            <a:r>
              <a:rPr b="1" lang="pl" sz="3775"/>
              <a:t>scheduler</a:t>
            </a:r>
            <a:r>
              <a:rPr lang="pl" sz="3775"/>
              <a:t> handles Virtual Thread execution by reusing Platform Threads</a:t>
            </a:r>
            <a:endParaRPr sz="3775"/>
          </a:p>
          <a:p>
            <a:pPr indent="-288542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pl" sz="3775"/>
              <a:t>Blocking a Virtual Thread does </a:t>
            </a:r>
            <a:r>
              <a:rPr b="1" lang="pl" sz="3775"/>
              <a:t>not</a:t>
            </a:r>
            <a:r>
              <a:rPr lang="pl" sz="3775"/>
              <a:t> block the OS Thread thanks to continuation-based scheduling</a:t>
            </a:r>
            <a:endParaRPr sz="37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50800" y="1460250"/>
            <a:ext cx="3385300" cy="330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 Scheduler</a:t>
            </a:r>
            <a:endParaRPr/>
          </a:p>
        </p:txBody>
      </p:sp>
      <p:pic>
        <p:nvPicPr>
          <p:cNvPr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575" y="1396450"/>
            <a:ext cx="5646442" cy="353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Thread.currentThread()</a:t>
            </a:r>
            <a:endParaRPr/>
          </a:p>
        </p:txBody>
      </p:sp>
      <p:sp>
        <p:nvSpPr>
          <p:cNvPr id="161" name="Google Shape;161;p17"/>
          <p:cNvSpPr txBox="1"/>
          <p:nvPr>
            <p:ph idx="1" type="body"/>
          </p:nvPr>
        </p:nvSpPr>
        <p:spPr>
          <a:xfrm>
            <a:off x="1756175" y="1757900"/>
            <a:ext cx="1251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440"/>
              <a:buNone/>
            </a:pPr>
            <a:r>
              <a:rPr lang="pl" sz="820"/>
              <a:t>type virtual/platform</a:t>
            </a:r>
            <a:endParaRPr sz="820"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9925" y="1729013"/>
            <a:ext cx="401002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/>
          <p:nvPr/>
        </p:nvSpPr>
        <p:spPr>
          <a:xfrm>
            <a:off x="3695675" y="1840475"/>
            <a:ext cx="111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3783875" y="2477000"/>
            <a:ext cx="4959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5" name="Google Shape;165;p17"/>
          <p:cNvSpPr txBox="1"/>
          <p:nvPr>
            <p:ph idx="1" type="body"/>
          </p:nvPr>
        </p:nvSpPr>
        <p:spPr>
          <a:xfrm>
            <a:off x="2632450" y="2196263"/>
            <a:ext cx="837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unique ID</a:t>
            </a:r>
            <a:endParaRPr/>
          </a:p>
        </p:txBody>
      </p:sp>
      <p:cxnSp>
        <p:nvCxnSpPr>
          <p:cNvPr id="166" name="Google Shape;166;p17"/>
          <p:cNvCxnSpPr>
            <a:stCxn id="163" idx="0"/>
          </p:cNvCxnSpPr>
          <p:nvPr/>
        </p:nvCxnSpPr>
        <p:spPr>
          <a:xfrm flipH="1" rot="5400000">
            <a:off x="3111575" y="696875"/>
            <a:ext cx="363300" cy="19239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67" name="Google Shape;167;p17"/>
          <p:cNvCxnSpPr/>
          <p:nvPr/>
        </p:nvCxnSpPr>
        <p:spPr>
          <a:xfrm>
            <a:off x="2331275" y="1475975"/>
            <a:ext cx="2400" cy="36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8" name="Google Shape;168;p17"/>
          <p:cNvSpPr/>
          <p:nvPr/>
        </p:nvSpPr>
        <p:spPr>
          <a:xfrm>
            <a:off x="4314175" y="2477000"/>
            <a:ext cx="30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4859200" y="1840475"/>
            <a:ext cx="3090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0" name="Google Shape;170;p17"/>
          <p:cNvCxnSpPr>
            <a:stCxn id="164" idx="2"/>
          </p:cNvCxnSpPr>
          <p:nvPr/>
        </p:nvCxnSpPr>
        <p:spPr>
          <a:xfrm rot="5400000">
            <a:off x="2991875" y="2150150"/>
            <a:ext cx="403800" cy="16761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1" name="Google Shape;171;p17"/>
          <p:cNvCxnSpPr/>
          <p:nvPr/>
        </p:nvCxnSpPr>
        <p:spPr>
          <a:xfrm rot="10800000">
            <a:off x="2342675" y="2067200"/>
            <a:ext cx="9900" cy="112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2" name="Google Shape;172;p17"/>
          <p:cNvCxnSpPr>
            <a:stCxn id="169" idx="2"/>
          </p:cNvCxnSpPr>
          <p:nvPr/>
        </p:nvCxnSpPr>
        <p:spPr>
          <a:xfrm>
            <a:off x="5013700" y="2149775"/>
            <a:ext cx="2100" cy="16680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3" name="Google Shape;173;p17"/>
          <p:cNvCxnSpPr/>
          <p:nvPr/>
        </p:nvCxnSpPr>
        <p:spPr>
          <a:xfrm flipH="1">
            <a:off x="3234100" y="2310988"/>
            <a:ext cx="1781700" cy="480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4" name="Google Shape;174;p17"/>
          <p:cNvCxnSpPr/>
          <p:nvPr/>
        </p:nvCxnSpPr>
        <p:spPr>
          <a:xfrm rot="10800000">
            <a:off x="3278625" y="2395075"/>
            <a:ext cx="1192500" cy="0"/>
          </a:xfrm>
          <a:prstGeom prst="straightConnector1">
            <a:avLst/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5" name="Google Shape;175;p17"/>
          <p:cNvCxnSpPr>
            <a:stCxn id="168" idx="0"/>
          </p:cNvCxnSpPr>
          <p:nvPr/>
        </p:nvCxnSpPr>
        <p:spPr>
          <a:xfrm flipH="1" rot="-5400000">
            <a:off x="4468675" y="2477000"/>
            <a:ext cx="600" cy="600"/>
          </a:xfrm>
          <a:prstGeom prst="bentConnector3">
            <a:avLst>
              <a:gd fmla="val -12020833" name="adj1"/>
            </a:avLst>
          </a:prstGeom>
          <a:noFill/>
          <a:ln cap="flat" cmpd="sng" w="9525">
            <a:solidFill>
              <a:srgbClr val="4A86E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6" name="Google Shape;176;p17"/>
          <p:cNvSpPr/>
          <p:nvPr/>
        </p:nvSpPr>
        <p:spPr>
          <a:xfrm>
            <a:off x="5860325" y="1840475"/>
            <a:ext cx="19239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77" name="Google Shape;177;p17"/>
          <p:cNvCxnSpPr>
            <a:stCxn id="176" idx="0"/>
          </p:cNvCxnSpPr>
          <p:nvPr/>
        </p:nvCxnSpPr>
        <p:spPr>
          <a:xfrm rot="-5400000">
            <a:off x="6709625" y="1727225"/>
            <a:ext cx="2259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FFFF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8" name="Google Shape;178;p17"/>
          <p:cNvCxnSpPr/>
          <p:nvPr/>
        </p:nvCxnSpPr>
        <p:spPr>
          <a:xfrm>
            <a:off x="6822000" y="1619625"/>
            <a:ext cx="642900" cy="0"/>
          </a:xfrm>
          <a:prstGeom prst="straightConnector1">
            <a:avLst/>
          </a:prstGeom>
          <a:noFill/>
          <a:ln cap="flat" cmpd="sng" w="9525">
            <a:solidFill>
              <a:srgbClr val="FF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9" name="Google Shape;179;p17"/>
          <p:cNvSpPr txBox="1"/>
          <p:nvPr>
            <p:ph idx="1" type="body"/>
          </p:nvPr>
        </p:nvSpPr>
        <p:spPr>
          <a:xfrm>
            <a:off x="7464900" y="1464975"/>
            <a:ext cx="8376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platform thread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1460425" y="3715275"/>
            <a:ext cx="60171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A virtual thread is assigned to a platform thread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hile it is assigned, the platform thread is the carrier (or carrier thread) for the virtual thread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4593600" y="2477025"/>
            <a:ext cx="672600" cy="309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82" name="Google Shape;182;p17"/>
          <p:cNvCxnSpPr>
            <a:stCxn id="181" idx="2"/>
          </p:cNvCxnSpPr>
          <p:nvPr/>
        </p:nvCxnSpPr>
        <p:spPr>
          <a:xfrm flipH="1">
            <a:off x="4927500" y="2786325"/>
            <a:ext cx="2400" cy="315600"/>
          </a:xfrm>
          <a:prstGeom prst="straightConnector1">
            <a:avLst/>
          </a:prstGeom>
          <a:noFill/>
          <a:ln cap="flat" cmpd="sng" w="9525">
            <a:solidFill>
              <a:srgbClr val="188038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3" name="Google Shape;183;p17"/>
          <p:cNvSpPr txBox="1"/>
          <p:nvPr>
            <p:ph idx="1" type="body"/>
          </p:nvPr>
        </p:nvSpPr>
        <p:spPr>
          <a:xfrm>
            <a:off x="4708050" y="3096150"/>
            <a:ext cx="443700" cy="30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name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Threads managed by the JVM</a:t>
            </a:r>
            <a:endParaRPr/>
          </a:p>
        </p:txBody>
      </p:sp>
      <p:sp>
        <p:nvSpPr>
          <p:cNvPr id="189" name="Google Shape;189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Platform Thread</a:t>
            </a:r>
            <a:br>
              <a:rPr b="1" lang="pl" sz="1100"/>
            </a:br>
            <a:r>
              <a:rPr lang="pl" sz="1100"/>
              <a:t> </a:t>
            </a:r>
            <a:r>
              <a:rPr lang="pl" sz="1000"/>
              <a:t>A traditional Java thread that wraps a native </a:t>
            </a:r>
            <a:r>
              <a:rPr b="1" lang="pl" sz="1000"/>
              <a:t>Operating System (OS) thread</a:t>
            </a:r>
            <a:r>
              <a:rPr lang="pl" sz="1000"/>
              <a:t>.</a:t>
            </a:r>
            <a:br>
              <a:rPr lang="pl" sz="1000"/>
            </a:br>
            <a:r>
              <a:rPr lang="pl" sz="1000"/>
              <a:t> It is </a:t>
            </a:r>
            <a:r>
              <a:rPr b="1" lang="pl" sz="1000"/>
              <a:t>created and managed by the JVM</a:t>
            </a:r>
            <a:r>
              <a:rPr lang="pl" sz="1000"/>
              <a:t>, but its </a:t>
            </a:r>
            <a:r>
              <a:rPr b="1" lang="pl" sz="1000"/>
              <a:t>execution is scheduled by the OS thread scheduler</a:t>
            </a:r>
            <a:r>
              <a:rPr lang="pl" sz="1000"/>
              <a:t>.</a:t>
            </a:r>
            <a:br>
              <a:rPr lang="pl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Virtual Thread</a:t>
            </a:r>
            <a:br>
              <a:rPr b="1" lang="pl" sz="1100"/>
            </a:br>
            <a:r>
              <a:rPr lang="pl" sz="1100"/>
              <a:t> </a:t>
            </a:r>
            <a:r>
              <a:rPr lang="pl" sz="1000"/>
              <a:t>A </a:t>
            </a:r>
            <a:r>
              <a:rPr b="1" lang="pl" sz="1000"/>
              <a:t>lightweight thread</a:t>
            </a:r>
            <a:r>
              <a:rPr lang="pl" sz="1000"/>
              <a:t> managed by the </a:t>
            </a:r>
            <a:r>
              <a:rPr b="1" lang="pl" sz="1000"/>
              <a:t>JVM's virtual thread scheduler</a:t>
            </a:r>
            <a:r>
              <a:rPr lang="pl" sz="1000"/>
              <a:t>.</a:t>
            </a:r>
            <a:br>
              <a:rPr lang="pl" sz="1000"/>
            </a:br>
            <a:r>
              <a:rPr lang="pl" sz="1000"/>
              <a:t> It can be </a:t>
            </a:r>
            <a:r>
              <a:rPr b="1" lang="pl" sz="1000"/>
              <a:t>mounted</a:t>
            </a:r>
            <a:r>
              <a:rPr lang="pl" sz="1000"/>
              <a:t> (bound) to a platform thread for execution when running code.</a:t>
            </a:r>
            <a:br>
              <a:rPr lang="pl" sz="1000"/>
            </a:br>
            <a:r>
              <a:rPr lang="pl" sz="1000"/>
              <a:t> Virtual threads are ideal for highly concurrent, non-blocking tasks.</a:t>
            </a:r>
            <a:br>
              <a:rPr lang="pl" sz="1100"/>
            </a:b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b="1" lang="pl" sz="1100"/>
              <a:t>Carrier Thread</a:t>
            </a:r>
            <a:br>
              <a:rPr b="1" lang="pl" sz="1100"/>
            </a:br>
            <a:r>
              <a:rPr lang="pl" sz="1000"/>
              <a:t> A </a:t>
            </a:r>
            <a:r>
              <a:rPr b="1" lang="pl" sz="1000"/>
              <a:t>platform thread</a:t>
            </a:r>
            <a:r>
              <a:rPr lang="pl" sz="1000"/>
              <a:t> that temporarily </a:t>
            </a:r>
            <a:r>
              <a:rPr b="1" lang="pl" sz="1000"/>
              <a:t>executes a virtual thread’s code</a:t>
            </a:r>
            <a:r>
              <a:rPr lang="pl" sz="1000"/>
              <a:t> during its active phase.</a:t>
            </a:r>
            <a:br>
              <a:rPr lang="pl" sz="1000"/>
            </a:br>
            <a:r>
              <a:rPr lang="pl" sz="1000"/>
              <a:t> While mounted, the platform thread acts as the </a:t>
            </a:r>
            <a:r>
              <a:rPr b="1" lang="pl" sz="1000"/>
              <a:t>carrier</a:t>
            </a:r>
            <a:r>
              <a:rPr lang="pl" sz="1000"/>
              <a:t> for the virtual thread.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Continuation</a:t>
            </a:r>
            <a:endParaRPr/>
          </a:p>
        </p:txBody>
      </p:sp>
      <p:sp>
        <p:nvSpPr>
          <p:cNvPr id="195" name="Google Shape;195;p19"/>
          <p:cNvSpPr txBox="1"/>
          <p:nvPr>
            <p:ph idx="1" type="body"/>
          </p:nvPr>
        </p:nvSpPr>
        <p:spPr>
          <a:xfrm>
            <a:off x="1297500" y="1294050"/>
            <a:ext cx="7291500" cy="53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5300">
                <a:solidFill>
                  <a:srgbClr val="000000"/>
                </a:solidFill>
              </a:rPr>
              <a:t>⚠️ </a:t>
            </a:r>
            <a:r>
              <a:rPr b="1" lang="pl" sz="5300">
                <a:solidFill>
                  <a:srgbClr val="FF0000"/>
                </a:solidFill>
              </a:rPr>
              <a:t>Continuation </a:t>
            </a:r>
            <a:r>
              <a:rPr lang="pl" sz="5300"/>
              <a:t>is an internal JDK class that encapsulates code which can be paused and resumed later, and is not intended for public use.</a:t>
            </a:r>
            <a:endParaRPr sz="5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6" name="Google Shape;19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5700" y="3313638"/>
            <a:ext cx="4152900" cy="676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1359500" y="2247750"/>
            <a:ext cx="49473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File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→ Settings (or Ctrl+Alt+S)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→ Build, Execution, Deployment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   → Compiler 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        → Java Compiler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4255175" y="2326350"/>
            <a:ext cx="3411000" cy="6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You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need uncheck the 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release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box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IDEA</a:t>
            </a:r>
            <a:endParaRPr/>
          </a:p>
        </p:txBody>
      </p:sp>
      <p:sp>
        <p:nvSpPr>
          <p:cNvPr id="204" name="Google Shape;204;p20"/>
          <p:cNvSpPr txBox="1"/>
          <p:nvPr>
            <p:ph idx="1" type="body"/>
          </p:nvPr>
        </p:nvSpPr>
        <p:spPr>
          <a:xfrm>
            <a:off x="1319250" y="1818250"/>
            <a:ext cx="69954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Click CTRL + ENTER -&gt; ADD    </a:t>
            </a:r>
            <a:r>
              <a:rPr b="1" lang="pl" sz="1100">
                <a:solidFill>
                  <a:srgbClr val="CF8E6D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import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jdk.internal.vm.Continuation;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 </a:t>
            </a:r>
            <a:endParaRPr/>
          </a:p>
        </p:txBody>
      </p:sp>
      <p:pic>
        <p:nvPicPr>
          <p:cNvPr id="205" name="Google Shape;20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5000" y="3748250"/>
            <a:ext cx="6274025" cy="96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4300" y="2386600"/>
            <a:ext cx="6995401" cy="116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Java Compiler</a:t>
            </a:r>
            <a:endParaRPr/>
          </a:p>
        </p:txBody>
      </p:sp>
      <p:sp>
        <p:nvSpPr>
          <p:cNvPr id="212" name="Google Shape;212;p21"/>
          <p:cNvSpPr txBox="1"/>
          <p:nvPr>
            <p:ph idx="1" type="body"/>
          </p:nvPr>
        </p:nvSpPr>
        <p:spPr>
          <a:xfrm>
            <a:off x="1015950" y="1567550"/>
            <a:ext cx="2807700" cy="232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File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→ Settings (or Ctrl+Alt+S)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→ Build, Execution, Deployment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   → Compiler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         → Java Compiler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3" name="Google Shape;21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6250" y="1376825"/>
            <a:ext cx="4709404" cy="353085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 txBox="1"/>
          <p:nvPr/>
        </p:nvSpPr>
        <p:spPr>
          <a:xfrm>
            <a:off x="795075" y="3877250"/>
            <a:ext cx="32097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--enable-preview </a:t>
            </a:r>
            <a:r>
              <a:rPr b="1" lang="pl" sz="9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--add-exports java.base/jdk.internal.vm=ALL-UNNAMED </a:t>
            </a:r>
            <a:endParaRPr b="1" sz="9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Unlock internal classes VM Options</a:t>
            </a:r>
            <a:endParaRPr/>
          </a:p>
        </p:txBody>
      </p:sp>
      <p:sp>
        <p:nvSpPr>
          <p:cNvPr id="220" name="Google Shape;220;p22"/>
          <p:cNvSpPr txBox="1"/>
          <p:nvPr>
            <p:ph idx="1" type="body"/>
          </p:nvPr>
        </p:nvSpPr>
        <p:spPr>
          <a:xfrm>
            <a:off x="694925" y="1795650"/>
            <a:ext cx="4332000" cy="310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>
                <a:latin typeface="Arial"/>
                <a:ea typeface="Arial"/>
                <a:cs typeface="Arial"/>
                <a:sym typeface="Arial"/>
              </a:rPr>
              <a:t>Steps: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latin typeface="Arial"/>
                <a:ea typeface="Arial"/>
                <a:cs typeface="Arial"/>
                <a:sym typeface="Arial"/>
              </a:rPr>
              <a:t>Run</a:t>
            </a:r>
            <a:br>
              <a:rPr b="1" lang="pl" sz="109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Edit Configurations</a:t>
            </a:r>
            <a:r>
              <a:rPr lang="pl" sz="2271">
                <a:latin typeface="Arial"/>
                <a:ea typeface="Arial"/>
                <a:cs typeface="Arial"/>
                <a:sym typeface="Arial"/>
              </a:rPr>
              <a:t> (from the top menu)</a:t>
            </a:r>
            <a:br>
              <a:rPr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 → in the bottom-left corner, click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Edit configuration templates</a:t>
            </a:r>
            <a:br>
              <a:rPr b="1"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  → select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Application</a:t>
            </a:r>
            <a:br>
              <a:rPr b="1" lang="pl" sz="2271">
                <a:latin typeface="Arial"/>
                <a:ea typeface="Arial"/>
                <a:cs typeface="Arial"/>
                <a:sym typeface="Arial"/>
              </a:rPr>
            </a:br>
            <a:r>
              <a:rPr lang="pl" sz="2271">
                <a:latin typeface="Arial"/>
                <a:ea typeface="Arial"/>
                <a:cs typeface="Arial"/>
                <a:sym typeface="Arial"/>
              </a:rPr>
              <a:t>    → in the </a:t>
            </a:r>
            <a:r>
              <a:rPr b="1" lang="pl" sz="2271">
                <a:latin typeface="Arial"/>
                <a:ea typeface="Arial"/>
                <a:cs typeface="Arial"/>
                <a:sym typeface="Arial"/>
              </a:rPr>
              <a:t>VM options</a:t>
            </a:r>
            <a:r>
              <a:rPr lang="pl" sz="2271">
                <a:latin typeface="Arial"/>
                <a:ea typeface="Arial"/>
                <a:cs typeface="Arial"/>
                <a:sym typeface="Arial"/>
              </a:rPr>
              <a:t> field, enter:</a:t>
            </a:r>
            <a:br>
              <a:rPr lang="pl" sz="691">
                <a:latin typeface="Arial"/>
                <a:ea typeface="Arial"/>
                <a:cs typeface="Arial"/>
                <a:sym typeface="Arial"/>
              </a:rPr>
            </a:br>
            <a:r>
              <a:rPr lang="pl" sz="691">
                <a:latin typeface="Arial"/>
                <a:ea typeface="Arial"/>
                <a:cs typeface="Arial"/>
                <a:sym typeface="Arial"/>
              </a:rPr>
              <a:t>   </a:t>
            </a:r>
            <a:r>
              <a:rPr lang="pl" sz="1534">
                <a:latin typeface="Arial"/>
                <a:ea typeface="Arial"/>
                <a:cs typeface="Arial"/>
                <a:sym typeface="Arial"/>
              </a:rPr>
              <a:t>  </a:t>
            </a:r>
            <a:r>
              <a:rPr b="1" lang="pl" sz="1534">
                <a:latin typeface="Courier New"/>
                <a:ea typeface="Courier New"/>
                <a:cs typeface="Courier New"/>
                <a:sym typeface="Courier New"/>
              </a:rPr>
              <a:t>--enable-preview --add-exports java.base/jdk.internal.vm=ALL-UNNAMED</a:t>
            </a:r>
            <a:endParaRPr b="1" sz="1534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2262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b="1" lang="pl" sz="2262">
                <a:latin typeface="Arial"/>
                <a:ea typeface="Arial"/>
                <a:cs typeface="Arial"/>
                <a:sym typeface="Arial"/>
              </a:rPr>
              <a:t>Apply</a:t>
            </a:r>
            <a:r>
              <a:rPr lang="pl" sz="2262">
                <a:latin typeface="Arial"/>
                <a:ea typeface="Arial"/>
                <a:cs typeface="Arial"/>
                <a:sym typeface="Arial"/>
              </a:rPr>
              <a:t>, then </a:t>
            </a:r>
            <a:r>
              <a:rPr b="1" lang="pl" sz="2262">
                <a:latin typeface="Arial"/>
                <a:ea typeface="Arial"/>
                <a:cs typeface="Arial"/>
                <a:sym typeface="Arial"/>
              </a:rPr>
              <a:t>OK</a:t>
            </a:r>
            <a:r>
              <a:rPr lang="pl" sz="2262">
                <a:latin typeface="Arial"/>
                <a:ea typeface="Arial"/>
                <a:cs typeface="Arial"/>
                <a:sym typeface="Arial"/>
              </a:rPr>
              <a:t>.</a:t>
            </a:r>
            <a:endParaRPr sz="2262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1" name="Google Shape;22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60553" y="1769525"/>
            <a:ext cx="3379075" cy="290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JAVA 25</a:t>
            </a:r>
            <a:endParaRPr/>
          </a:p>
        </p:txBody>
      </p:sp>
      <p:sp>
        <p:nvSpPr>
          <p:cNvPr id="227" name="Google Shape;227;p23"/>
          <p:cNvSpPr txBox="1"/>
          <p:nvPr>
            <p:ph idx="1" type="body"/>
          </p:nvPr>
        </p:nvSpPr>
        <p:spPr>
          <a:xfrm>
            <a:off x="1385850" y="2626700"/>
            <a:ext cx="20643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https://jdk.java.net./25/</a:t>
            </a:r>
            <a:endParaRPr/>
          </a:p>
        </p:txBody>
      </p:sp>
      <p:pic>
        <p:nvPicPr>
          <p:cNvPr id="228" name="Google Shape;22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9024" y="1820825"/>
            <a:ext cx="3296049" cy="2776149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3"/>
          <p:cNvSpPr txBox="1"/>
          <p:nvPr>
            <p:ph idx="1" type="body"/>
          </p:nvPr>
        </p:nvSpPr>
        <p:spPr>
          <a:xfrm>
            <a:off x="1420450" y="1184975"/>
            <a:ext cx="2064300" cy="67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/>
              <a:t>Option 1</a:t>
            </a:r>
            <a:endParaRPr b="1"/>
          </a:p>
        </p:txBody>
      </p:sp>
      <p:sp>
        <p:nvSpPr>
          <p:cNvPr id="230" name="Google Shape;230;p23"/>
          <p:cNvSpPr txBox="1"/>
          <p:nvPr>
            <p:ph idx="1" type="body"/>
          </p:nvPr>
        </p:nvSpPr>
        <p:spPr>
          <a:xfrm>
            <a:off x="5496450" y="1184975"/>
            <a:ext cx="20643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pl"/>
              <a:t>Option 2</a:t>
            </a:r>
            <a:endParaRPr b="1"/>
          </a:p>
        </p:txBody>
      </p:sp>
      <p:cxnSp>
        <p:nvCxnSpPr>
          <p:cNvPr id="231" name="Google Shape;231;p23"/>
          <p:cNvCxnSpPr/>
          <p:nvPr/>
        </p:nvCxnSpPr>
        <p:spPr>
          <a:xfrm>
            <a:off x="1806125" y="1585475"/>
            <a:ext cx="353400" cy="89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32" name="Google Shape;232;p23"/>
          <p:cNvCxnSpPr/>
          <p:nvPr/>
        </p:nvCxnSpPr>
        <p:spPr>
          <a:xfrm>
            <a:off x="5938825" y="1497400"/>
            <a:ext cx="181500" cy="27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 Scheduler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4"/>
          <p:cNvSpPr txBox="1"/>
          <p:nvPr>
            <p:ph idx="1" type="body"/>
          </p:nvPr>
        </p:nvSpPr>
        <p:spPr>
          <a:xfrm>
            <a:off x="1297500" y="1567550"/>
            <a:ext cx="6030000" cy="76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-Djdk.virtualThreadScheduler.parallelism=2</a:t>
            </a:r>
            <a:endParaRPr b="1" sz="1100"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39" name="Google Shape;23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2313" y="2517413"/>
            <a:ext cx="5457825" cy="1685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Pinning</a:t>
            </a:r>
            <a:endParaRPr/>
          </a:p>
        </p:txBody>
      </p:sp>
      <p:sp>
        <p:nvSpPr>
          <p:cNvPr id="245" name="Google Shape;245;p25"/>
          <p:cNvSpPr txBox="1"/>
          <p:nvPr>
            <p:ph idx="1" type="body"/>
          </p:nvPr>
        </p:nvSpPr>
        <p:spPr>
          <a:xfrm>
            <a:off x="1562500" y="1430125"/>
            <a:ext cx="6678000" cy="63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Pinning occurs when the virtual thread does not release the platform thread.</a:t>
            </a:r>
            <a:endParaRPr sz="1500"/>
          </a:p>
        </p:txBody>
      </p:sp>
      <p:sp>
        <p:nvSpPr>
          <p:cNvPr id="246" name="Google Shape;246;p25"/>
          <p:cNvSpPr txBox="1"/>
          <p:nvPr>
            <p:ph idx="1" type="body"/>
          </p:nvPr>
        </p:nvSpPr>
        <p:spPr>
          <a:xfrm>
            <a:off x="1474425" y="2132475"/>
            <a:ext cx="3163500" cy="26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 sz="15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synchronized blocks ❌ 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datagram sockets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DNS lookups ❌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native blocking code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file operations ❌ 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>
              <a:solidFill>
                <a:srgbClr val="FF00FF"/>
              </a:solidFill>
            </a:endParaRPr>
          </a:p>
        </p:txBody>
      </p:sp>
      <p:sp>
        <p:nvSpPr>
          <p:cNvPr id="247" name="Google Shape;247;p25"/>
          <p:cNvSpPr txBox="1"/>
          <p:nvPr>
            <p:ph idx="1" type="body"/>
          </p:nvPr>
        </p:nvSpPr>
        <p:spPr>
          <a:xfrm>
            <a:off x="4988750" y="2132475"/>
            <a:ext cx="3055200" cy="266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25</a:t>
            </a:r>
            <a:endParaRPr sz="15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synchronized blocks  ✅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datagram sockets ❌❔️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DNS lookups ❌</a:t>
            </a:r>
            <a:r>
              <a:rPr lang="pl" sz="1500">
                <a:solidFill>
                  <a:srgbClr val="FF00FF"/>
                </a:solidFill>
              </a:rPr>
              <a:t>❔️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native blocking code ❌</a:t>
            </a:r>
            <a:endParaRPr sz="1500"/>
          </a:p>
          <a:p>
            <a:pPr indent="-3238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pl" sz="1500"/>
              <a:t>file operations ❌❔️</a:t>
            </a:r>
            <a:endParaRPr sz="15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Synchronized blocks</a:t>
            </a:r>
            <a:endParaRPr/>
          </a:p>
        </p:txBody>
      </p:sp>
      <p:sp>
        <p:nvSpPr>
          <p:cNvPr id="253" name="Google Shape;253;p26"/>
          <p:cNvSpPr txBox="1"/>
          <p:nvPr>
            <p:ph idx="1" type="body"/>
          </p:nvPr>
        </p:nvSpPr>
        <p:spPr>
          <a:xfrm>
            <a:off x="1744100" y="2658075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54" name="Google Shape;254;p26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55" name="Google Shape;25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9697" y="2228425"/>
            <a:ext cx="3432050" cy="7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0000" y="3494125"/>
            <a:ext cx="7346850" cy="1050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7" name="Google Shape;257;p26"/>
          <p:cNvCxnSpPr>
            <a:stCxn id="254" idx="2"/>
            <a:endCxn id="255" idx="0"/>
          </p:cNvCxnSpPr>
          <p:nvPr/>
        </p:nvCxnSpPr>
        <p:spPr>
          <a:xfrm>
            <a:off x="6432025" y="1995200"/>
            <a:ext cx="73800" cy="2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8" name="Google Shape;258;p26"/>
          <p:cNvCxnSpPr>
            <a:stCxn id="253" idx="2"/>
          </p:cNvCxnSpPr>
          <p:nvPr/>
        </p:nvCxnSpPr>
        <p:spPr>
          <a:xfrm>
            <a:off x="2646200" y="3097875"/>
            <a:ext cx="909600" cy="356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9" name="Google Shape;259;p26"/>
          <p:cNvSpPr txBox="1"/>
          <p:nvPr>
            <p:ph idx="1" type="body"/>
          </p:nvPr>
        </p:nvSpPr>
        <p:spPr>
          <a:xfrm>
            <a:off x="689125" y="1479625"/>
            <a:ext cx="44790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4300"/>
              <a:t>vm options </a:t>
            </a:r>
            <a:endParaRPr sz="43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757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 -Djdk.virtualThreadScheduler.parallelism=</a:t>
            </a:r>
            <a:r>
              <a:rPr b="1" lang="pl" sz="2757">
                <a:solidFill>
                  <a:srgbClr val="2AACB8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2757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ReentrantLock</a:t>
            </a:r>
            <a:endParaRPr/>
          </a:p>
        </p:txBody>
      </p:sp>
      <p:sp>
        <p:nvSpPr>
          <p:cNvPr id="265" name="Google Shape;265;p27"/>
          <p:cNvSpPr txBox="1"/>
          <p:nvPr>
            <p:ph idx="1" type="body"/>
          </p:nvPr>
        </p:nvSpPr>
        <p:spPr>
          <a:xfrm>
            <a:off x="1744100" y="2627650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66" name="Google Shape;266;p27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7" name="Google Shape;267;p27"/>
          <p:cNvSpPr txBox="1"/>
          <p:nvPr>
            <p:ph idx="1" type="body"/>
          </p:nvPr>
        </p:nvSpPr>
        <p:spPr>
          <a:xfrm>
            <a:off x="689125" y="1479625"/>
            <a:ext cx="44790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10000"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4300"/>
              <a:t>vm options </a:t>
            </a:r>
            <a:endParaRPr sz="4300"/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757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 -Djdk.virtualThreadScheduler.parallelism=</a:t>
            </a:r>
            <a:r>
              <a:rPr b="1" lang="pl" sz="2757">
                <a:solidFill>
                  <a:srgbClr val="2AACB8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1" sz="2757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/>
          </a:p>
        </p:txBody>
      </p:sp>
      <p:pic>
        <p:nvPicPr>
          <p:cNvPr id="268" name="Google Shape;26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325" y="3401425"/>
            <a:ext cx="7892551" cy="102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3675" y="2267050"/>
            <a:ext cx="3943926" cy="8316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0" name="Google Shape;270;p27"/>
          <p:cNvCxnSpPr>
            <a:stCxn id="266" idx="2"/>
          </p:cNvCxnSpPr>
          <p:nvPr/>
        </p:nvCxnSpPr>
        <p:spPr>
          <a:xfrm>
            <a:off x="6432025" y="1995200"/>
            <a:ext cx="174000" cy="22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71" name="Google Shape;271;p27"/>
          <p:cNvCxnSpPr>
            <a:stCxn id="265" idx="2"/>
          </p:cNvCxnSpPr>
          <p:nvPr/>
        </p:nvCxnSpPr>
        <p:spPr>
          <a:xfrm>
            <a:off x="2646200" y="3067450"/>
            <a:ext cx="229800" cy="25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IO operations</a:t>
            </a:r>
            <a:endParaRPr/>
          </a:p>
        </p:txBody>
      </p:sp>
      <p:sp>
        <p:nvSpPr>
          <p:cNvPr id="277" name="Google Shape;277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 have not been able to reproduce it, but based on the documentation it is probably possible in both JAVA 21 and JAVA 25.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Nevertheless, many operations are safe in both versions. More in the documentation.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-Djdk.tracePinnedThreads=full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link to doc -&gt; https://openjdk.org/jeps/444#java-io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Datagram Socket</a:t>
            </a:r>
            <a:endParaRPr/>
          </a:p>
        </p:txBody>
      </p:sp>
      <p:pic>
        <p:nvPicPr>
          <p:cNvPr id="283" name="Google Shape;283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4875" y="3977975"/>
            <a:ext cx="5791150" cy="655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5913" y="2400200"/>
            <a:ext cx="5030375" cy="9761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9"/>
          <p:cNvSpPr txBox="1"/>
          <p:nvPr>
            <p:ph idx="1" type="body"/>
          </p:nvPr>
        </p:nvSpPr>
        <p:spPr>
          <a:xfrm>
            <a:off x="1297500" y="3152800"/>
            <a:ext cx="18042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/>
              <a:t>JAVA 21</a:t>
            </a:r>
            <a:endParaRPr/>
          </a:p>
        </p:txBody>
      </p:sp>
      <p:sp>
        <p:nvSpPr>
          <p:cNvPr id="286" name="Google Shape;286;p29"/>
          <p:cNvSpPr txBox="1"/>
          <p:nvPr/>
        </p:nvSpPr>
        <p:spPr>
          <a:xfrm>
            <a:off x="5467675" y="1579700"/>
            <a:ext cx="1928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287" name="Google Shape;287;p29"/>
          <p:cNvCxnSpPr>
            <a:stCxn id="286" idx="2"/>
          </p:cNvCxnSpPr>
          <p:nvPr/>
        </p:nvCxnSpPr>
        <p:spPr>
          <a:xfrm>
            <a:off x="6432025" y="1995200"/>
            <a:ext cx="370500" cy="409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88" name="Google Shape;288;p29"/>
          <p:cNvCxnSpPr>
            <a:stCxn id="285" idx="2"/>
          </p:cNvCxnSpPr>
          <p:nvPr/>
        </p:nvCxnSpPr>
        <p:spPr>
          <a:xfrm>
            <a:off x="2199600" y="3592600"/>
            <a:ext cx="333000" cy="30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89" name="Google Shape;289;p29"/>
          <p:cNvSpPr txBox="1"/>
          <p:nvPr/>
        </p:nvSpPr>
        <p:spPr>
          <a:xfrm>
            <a:off x="412275" y="1614700"/>
            <a:ext cx="3000000" cy="58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-Djdk.tracePinnedThreads=short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DNS lookups</a:t>
            </a:r>
            <a:endParaRPr/>
          </a:p>
        </p:txBody>
      </p:sp>
      <p:sp>
        <p:nvSpPr>
          <p:cNvPr id="295" name="Google Shape;295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I have not been able to reproduce it, but based on the documentation it is probably possible in both JAVA 21 and JAVA 25.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VM options  </a:t>
            </a:r>
            <a:r>
              <a:rPr b="1" lang="pl" sz="1100">
                <a:solidFill>
                  <a:srgbClr val="BCBEC4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-Djdk.tracePinnedThreads=full</a:t>
            </a:r>
            <a:endParaRPr b="1" sz="1100">
              <a:solidFill>
                <a:srgbClr val="BCBEC4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/>
              <a:t>link to doc -&gt; https://openjdk.org/jeps/444#Networking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Native blocking code </a:t>
            </a:r>
            <a:endParaRPr/>
          </a:p>
        </p:txBody>
      </p:sp>
      <p:sp>
        <p:nvSpPr>
          <p:cNvPr id="301" name="Google Shape;301;p31"/>
          <p:cNvSpPr txBox="1"/>
          <p:nvPr>
            <p:ph idx="1" type="body"/>
          </p:nvPr>
        </p:nvSpPr>
        <p:spPr>
          <a:xfrm>
            <a:off x="5248375" y="1331850"/>
            <a:ext cx="3375000" cy="123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1. download gcc </a:t>
            </a:r>
            <a:r>
              <a:rPr lang="pl" sz="2900" u="sng">
                <a:solidFill>
                  <a:schemeClr val="hlink"/>
                </a:solidFill>
                <a:hlinkClick r:id="rId3"/>
              </a:rPr>
              <a:t>https://winlibs.com/#download-release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2. add to path bin folder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3. cd .\src\main\resources  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4. run:</a:t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native.dll native.c</a:t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native2.dll native2.c</a:t>
            </a:r>
            <a:endParaRPr sz="2900"/>
          </a:p>
          <a:p>
            <a:pPr indent="-27463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pl" sz="2900"/>
              <a:t>gcc -I"$env:JAVA_HOME\include" -I"$env:JAVA_HOME\include\win32" -shared -o native3.dll native3.c</a:t>
            </a:r>
            <a:endParaRPr sz="29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/>
              <a:t>5. VM options </a:t>
            </a:r>
            <a:r>
              <a:rPr b="1" lang="pl" sz="2900"/>
              <a:t>-Djdk.tracePinnedThreads=full -Djava.library.path=C:\Users\konra\Desktop\loom\src\main\resources</a:t>
            </a:r>
            <a:endParaRPr b="1" sz="29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"/>
          <p:cNvSpPr txBox="1"/>
          <p:nvPr/>
        </p:nvSpPr>
        <p:spPr>
          <a:xfrm>
            <a:off x="1297500" y="1570850"/>
            <a:ext cx="3547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“There are two scenarios in which a virtual thread cannot be unmounted during blocking operations because it is pinned to its carrier: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When it executes code inside a synchronized block or method 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When it executes a native method or a foreign function “</a:t>
            </a:r>
            <a:endParaRPr sz="11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03" name="Google Shape;30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8372" y="3237000"/>
            <a:ext cx="1551900" cy="151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71475" y="3637675"/>
            <a:ext cx="1819275" cy="40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Scoped Value</a:t>
            </a:r>
            <a:endParaRPr/>
          </a:p>
        </p:txBody>
      </p:sp>
      <p:sp>
        <p:nvSpPr>
          <p:cNvPr id="310" name="Google Shape;310;p32"/>
          <p:cNvSpPr txBox="1"/>
          <p:nvPr>
            <p:ph idx="1" type="body"/>
          </p:nvPr>
        </p:nvSpPr>
        <p:spPr>
          <a:xfrm>
            <a:off x="1317800" y="1268250"/>
            <a:ext cx="7038900" cy="130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A </a:t>
            </a:r>
            <a:r>
              <a:rPr b="1" lang="pl" sz="975"/>
              <a:t>ScopedValue</a:t>
            </a:r>
            <a:r>
              <a:rPr lang="pl" sz="975"/>
              <a:t> is a new way in Java to safely share </a:t>
            </a:r>
            <a:r>
              <a:rPr i="1" lang="pl" sz="975"/>
              <a:t>immutable data</a:t>
            </a:r>
            <a:r>
              <a:rPr lang="pl" sz="975"/>
              <a:t> across methods and threads, </a:t>
            </a:r>
            <a:r>
              <a:rPr b="1" lang="pl" sz="975"/>
              <a:t>without using thread-local variables</a:t>
            </a:r>
            <a:r>
              <a:rPr lang="pl" sz="975"/>
              <a:t>.</a:t>
            </a: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It allows you to:</a:t>
            </a:r>
            <a:endParaRPr sz="975"/>
          </a:p>
          <a:p>
            <a:pPr indent="-290512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975"/>
              <a:buFont typeface="Lato"/>
              <a:buChar char="●"/>
            </a:pPr>
            <a:r>
              <a:rPr lang="pl" sz="975"/>
              <a:t>Bind a value to a limited dynamic scope</a:t>
            </a:r>
            <a:br>
              <a:rPr lang="pl" sz="975"/>
            </a:br>
            <a:endParaRPr sz="975"/>
          </a:p>
          <a:p>
            <a:pPr indent="-29051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75"/>
              <a:buFont typeface="Lato"/>
              <a:buChar char="●"/>
            </a:pPr>
            <a:r>
              <a:rPr lang="pl" sz="975"/>
              <a:t>Pass context (like user info, config, etc.) to other methods or threads in a safe and clean way</a:t>
            </a:r>
            <a:br>
              <a:rPr lang="pl" sz="975"/>
            </a:br>
            <a:endParaRPr sz="975"/>
          </a:p>
          <a:p>
            <a:pPr indent="-290512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75"/>
              <a:buFont typeface="Arial"/>
              <a:buChar char="●"/>
            </a:pPr>
            <a:r>
              <a:rPr lang="pl" sz="975"/>
              <a:t>Avoid common problems of ThreadLocal, such as leaks or incorrect inheritance</a:t>
            </a:r>
            <a:br>
              <a:rPr lang="pl" sz="975"/>
            </a:b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pl" sz="975"/>
              <a:t>Scoped values are </a:t>
            </a:r>
            <a:r>
              <a:rPr b="1" lang="pl" sz="975"/>
              <a:t>immutable</a:t>
            </a:r>
            <a:r>
              <a:rPr lang="pl" sz="975"/>
              <a:t>, </a:t>
            </a:r>
            <a:r>
              <a:rPr b="1" lang="pl" sz="975"/>
              <a:t>inheritable</a:t>
            </a:r>
            <a:r>
              <a:rPr lang="pl" sz="975"/>
              <a:t>, and </a:t>
            </a:r>
            <a:r>
              <a:rPr b="1" lang="pl" sz="975"/>
              <a:t>automatically cleared</a:t>
            </a:r>
            <a:r>
              <a:rPr lang="pl" sz="975"/>
              <a:t> when out of scope.</a:t>
            </a:r>
            <a:endParaRPr sz="975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1025"/>
          </a:p>
        </p:txBody>
      </p:sp>
      <p:sp>
        <p:nvSpPr>
          <p:cNvPr id="311" name="Google Shape;311;p32"/>
          <p:cNvSpPr txBox="1"/>
          <p:nvPr/>
        </p:nvSpPr>
        <p:spPr>
          <a:xfrm>
            <a:off x="5396425" y="3674950"/>
            <a:ext cx="2350800" cy="15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Release</a:t>
            </a: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https://openjdk.org/jeps/506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32"/>
          <p:cNvSpPr txBox="1"/>
          <p:nvPr/>
        </p:nvSpPr>
        <p:spPr>
          <a:xfrm>
            <a:off x="1899450" y="3674950"/>
            <a:ext cx="27336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21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https://openjdk.org/jeps/446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ThreadLocal vs ScopedValue</a:t>
            </a:r>
            <a:endParaRPr/>
          </a:p>
        </p:txBody>
      </p:sp>
      <p:graphicFrame>
        <p:nvGraphicFramePr>
          <p:cNvPr id="318" name="Google Shape;318;p33"/>
          <p:cNvGraphicFramePr/>
          <p:nvPr/>
        </p:nvGraphicFramePr>
        <p:xfrm>
          <a:off x="1183100" y="1094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{429AC8E0-F225-467A-BC89-FB847464E10C}</a:tableStyleId>
              </a:tblPr>
              <a:tblGrid>
                <a:gridCol w="1046650"/>
                <a:gridCol w="2705425"/>
                <a:gridCol w="3537625"/>
              </a:tblGrid>
              <a:tr h="272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ThreadLocal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ScopedValue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3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Mutability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Mutable – the value can be set or changed at any time.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Immutable reference – value is fixed for the duration of the scope (object itself can still be mutable).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Scope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Bound to the entire thread lifetime (manual cleanup required).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Bound to a well-defined dynamic scope (ScopedValue.where(...).run(...) or .call(...)).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Thread Safety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Easy to misuse – may leak values or accidentally share between threads.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Safe by design – no accidental sharing or leaks.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Virtual Threads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Not recommended – can cause memory leaks or unexpected behavior due to carrier thread reuse.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Designed to work well with virtual threads and structured concurrency.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4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Inheritance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Supports implicit inheritance (InheritableThreadLocal), but this is often error-prone.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No implicit inheritance – all context passing is explicit.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3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Cleanup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Must be manually cleared to avoid leaks.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Automatically cleared when the scope exits.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4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pl" sz="11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Performance</a:t>
                      </a:r>
                      <a:endParaRPr b="1" sz="11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Can be slower and more error-prone in modern concurrent environments; fine for simple thread-bound values.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800">
                          <a:solidFill>
                            <a:schemeClr val="lt1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Often faster in concurrent/virtual thread scenarios and reduces logic errors.</a:t>
                      </a:r>
                      <a:endParaRPr sz="800">
                        <a:solidFill>
                          <a:schemeClr val="lt1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91425" marB="91425" marR="91425" marL="91425">
                    <a:lnL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Structured </a:t>
            </a:r>
            <a:r>
              <a:rPr lang="pl"/>
              <a:t>Concurrency</a:t>
            </a:r>
            <a:endParaRPr/>
          </a:p>
        </p:txBody>
      </p:sp>
      <p:sp>
        <p:nvSpPr>
          <p:cNvPr id="324" name="Google Shape;324;p34"/>
          <p:cNvSpPr txBox="1"/>
          <p:nvPr>
            <p:ph idx="1" type="body"/>
          </p:nvPr>
        </p:nvSpPr>
        <p:spPr>
          <a:xfrm>
            <a:off x="1297500" y="1567550"/>
            <a:ext cx="7038900" cy="140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0495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StructuredTaskScope.ShutdownOnFailure()</a:t>
            </a:r>
            <a:r>
              <a:rPr lang="pl"/>
              <a:t> – cancels the remaining tasks on the first failure</a:t>
            </a:r>
            <a:endParaRPr/>
          </a:p>
          <a:p>
            <a:pPr indent="-30495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StructuredTaskScope.ShutdownOnSuccess() </a:t>
            </a:r>
            <a:r>
              <a:rPr lang="pl"/>
              <a:t>– stops the others as soon as one succeeds (e.g., for racing)</a:t>
            </a:r>
            <a:endParaRPr/>
          </a:p>
          <a:p>
            <a:pPr indent="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34"/>
          <p:cNvSpPr txBox="1"/>
          <p:nvPr/>
        </p:nvSpPr>
        <p:spPr>
          <a:xfrm>
            <a:off x="5384000" y="2826950"/>
            <a:ext cx="2350800" cy="15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25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(Fifth 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5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https://openjdk.org/jeps/505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4"/>
          <p:cNvSpPr txBox="1"/>
          <p:nvPr/>
        </p:nvSpPr>
        <p:spPr>
          <a:xfrm>
            <a:off x="1668925" y="2826950"/>
            <a:ext cx="2733600" cy="12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JAVA 21</a:t>
            </a:r>
            <a:endParaRPr b="1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(Preview)</a:t>
            </a:r>
            <a:endParaRPr b="1"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38100" rtl="0" algn="ctr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pl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https://openjdk.org/jeps/453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7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Structured Concurrency + Scoped Value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2" name="Google Shape;33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6675" y="1484775"/>
            <a:ext cx="6419850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+ Spring Boot</a:t>
            </a:r>
            <a:endParaRPr/>
          </a:p>
        </p:txBody>
      </p:sp>
      <p:sp>
        <p:nvSpPr>
          <p:cNvPr id="338" name="Google Shape;338;p36"/>
          <p:cNvSpPr txBox="1"/>
          <p:nvPr>
            <p:ph idx="1" type="body"/>
          </p:nvPr>
        </p:nvSpPr>
        <p:spPr>
          <a:xfrm>
            <a:off x="1297500" y="1493925"/>
            <a:ext cx="7261800" cy="122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091"/>
              <a:t>To use Virtual </a:t>
            </a:r>
            <a:r>
              <a:rPr lang="pl" sz="1091"/>
              <a:t>Thread</a:t>
            </a:r>
            <a:r>
              <a:rPr lang="pl" sz="1091"/>
              <a:t> with spring boot you need add to properties   </a:t>
            </a:r>
            <a:r>
              <a:rPr b="1" lang="pl" sz="1100">
                <a:solidFill>
                  <a:srgbClr val="CF8E6D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spring.threads.virtual.enabled</a:t>
            </a:r>
            <a:r>
              <a:rPr b="1" lang="pl" sz="1100">
                <a:solidFill>
                  <a:srgbClr val="808080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lang="pl" sz="1100">
                <a:solidFill>
                  <a:srgbClr val="6AAB73"/>
                </a:solidFill>
                <a:highlight>
                  <a:srgbClr val="1E1F22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endParaRPr b="1" sz="1100">
              <a:solidFill>
                <a:srgbClr val="6AAB73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091">
                <a:solidFill>
                  <a:srgbClr val="FF0000"/>
                </a:solidFill>
              </a:rPr>
              <a:t>This is not always true</a:t>
            </a:r>
            <a:endParaRPr sz="109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091"/>
              <a:t>An example of virtual threads used by Spring Boot is shown below (code on the next slide)</a:t>
            </a:r>
            <a:endParaRPr sz="109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091"/>
          </a:p>
        </p:txBody>
      </p:sp>
      <p:pic>
        <p:nvPicPr>
          <p:cNvPr id="339" name="Google Shape;33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413" y="2429575"/>
            <a:ext cx="8034023" cy="51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813" y="3288000"/>
            <a:ext cx="8334375" cy="12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36"/>
          <p:cNvSpPr/>
          <p:nvPr/>
        </p:nvSpPr>
        <p:spPr>
          <a:xfrm>
            <a:off x="3111425" y="3332400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2" name="Google Shape;342;p36"/>
          <p:cNvSpPr/>
          <p:nvPr/>
        </p:nvSpPr>
        <p:spPr>
          <a:xfrm>
            <a:off x="6635575" y="3332400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3" name="Google Shape;343;p36"/>
          <p:cNvSpPr/>
          <p:nvPr/>
        </p:nvSpPr>
        <p:spPr>
          <a:xfrm>
            <a:off x="6954825" y="3961175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4" name="Google Shape;344;p36"/>
          <p:cNvSpPr/>
          <p:nvPr/>
        </p:nvSpPr>
        <p:spPr>
          <a:xfrm>
            <a:off x="7936275" y="3754838"/>
            <a:ext cx="7116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5" name="Google Shape;345;p36"/>
          <p:cNvSpPr/>
          <p:nvPr/>
        </p:nvSpPr>
        <p:spPr>
          <a:xfrm>
            <a:off x="3411075" y="3961175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46" name="Google Shape;346;p36"/>
          <p:cNvSpPr/>
          <p:nvPr/>
        </p:nvSpPr>
        <p:spPr>
          <a:xfrm>
            <a:off x="4392775" y="3754850"/>
            <a:ext cx="417300" cy="2406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347" name="Google Shape;347;p36"/>
          <p:cNvCxnSpPr/>
          <p:nvPr/>
        </p:nvCxnSpPr>
        <p:spPr>
          <a:xfrm flipH="1" rot="10800000">
            <a:off x="2723900" y="1874475"/>
            <a:ext cx="2257800" cy="936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+ Spring Boot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3" name="Google Shape;3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38626" y="1425200"/>
            <a:ext cx="5041425" cy="335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Code comparison</a:t>
            </a:r>
            <a:r>
              <a:rPr lang="pl"/>
              <a:t> </a:t>
            </a:r>
            <a:r>
              <a:rPr lang="pl"/>
              <a:t> (Completable Future )</a:t>
            </a:r>
            <a:endParaRPr/>
          </a:p>
        </p:txBody>
      </p:sp>
      <p:pic>
        <p:nvPicPr>
          <p:cNvPr id="359" name="Google Shape;35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5825" y="1592758"/>
            <a:ext cx="6448750" cy="26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Code comparison</a:t>
            </a:r>
            <a:r>
              <a:rPr lang="pl"/>
              <a:t> (Virtual Threads)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65" name="Google Shape;36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4725" y="1970675"/>
            <a:ext cx="6562725" cy="240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</a:t>
            </a:r>
            <a:r>
              <a:rPr lang="pl"/>
              <a:t> Future </a:t>
            </a:r>
            <a:endParaRPr/>
          </a:p>
        </p:txBody>
      </p:sp>
      <p:pic>
        <p:nvPicPr>
          <p:cNvPr id="371" name="Google Shape;37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0800" y="2126438"/>
            <a:ext cx="6902389" cy="1353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8750" y="3697100"/>
            <a:ext cx="7086496" cy="123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40"/>
          <p:cNvSpPr txBox="1"/>
          <p:nvPr>
            <p:ph idx="1" type="body"/>
          </p:nvPr>
        </p:nvSpPr>
        <p:spPr>
          <a:xfrm>
            <a:off x="1297500" y="144975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51 ms and 223 ms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Blocking code </a:t>
            </a:r>
            <a:endParaRPr/>
          </a:p>
        </p:txBody>
      </p:sp>
      <p:pic>
        <p:nvPicPr>
          <p:cNvPr id="379" name="Google Shape;37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475" y="3705598"/>
            <a:ext cx="7600950" cy="117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10200" y="2008685"/>
            <a:ext cx="5923599" cy="150402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41"/>
          <p:cNvSpPr txBox="1"/>
          <p:nvPr>
            <p:ph idx="1" type="body"/>
          </p:nvPr>
        </p:nvSpPr>
        <p:spPr>
          <a:xfrm>
            <a:off x="1297500" y="1428613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230 ms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4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</a:t>
            </a:r>
            <a:r>
              <a:rPr lang="pl"/>
              <a:t> Future</a:t>
            </a:r>
            <a:r>
              <a:rPr lang="pl"/>
              <a:t> + Virtual Threads</a:t>
            </a:r>
            <a:endParaRPr/>
          </a:p>
        </p:txBody>
      </p:sp>
      <p:pic>
        <p:nvPicPr>
          <p:cNvPr id="387" name="Google Shape;38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2550" y="1906875"/>
            <a:ext cx="7038899" cy="150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4550" y="3631581"/>
            <a:ext cx="6792346" cy="117764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2"/>
          <p:cNvSpPr txBox="1"/>
          <p:nvPr>
            <p:ph idx="1" type="body"/>
          </p:nvPr>
        </p:nvSpPr>
        <p:spPr>
          <a:xfrm>
            <a:off x="1297500" y="135650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220 ms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Blocking</a:t>
            </a:r>
            <a:r>
              <a:rPr lang="pl"/>
              <a:t> code + Virtual </a:t>
            </a:r>
            <a:r>
              <a:rPr lang="pl"/>
              <a:t>Threads</a:t>
            </a:r>
            <a:endParaRPr/>
          </a:p>
        </p:txBody>
      </p:sp>
      <p:sp>
        <p:nvSpPr>
          <p:cNvPr id="395" name="Google Shape;395;p43"/>
          <p:cNvSpPr txBox="1"/>
          <p:nvPr>
            <p:ph idx="1" type="body"/>
          </p:nvPr>
        </p:nvSpPr>
        <p:spPr>
          <a:xfrm>
            <a:off x="1297500" y="1567550"/>
            <a:ext cx="5863200" cy="4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Results between 50 ms and 234ms</a:t>
            </a:r>
            <a:endParaRPr/>
          </a:p>
        </p:txBody>
      </p:sp>
      <p:pic>
        <p:nvPicPr>
          <p:cNvPr id="396" name="Google Shape;39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500" y="2095800"/>
            <a:ext cx="7661000" cy="140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3375" y="3702450"/>
            <a:ext cx="7940749" cy="116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</a:t>
            </a:r>
            <a:r>
              <a:rPr lang="pl"/>
              <a:t> Future &lt;-&gt; Virtual Threads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44"/>
          <p:cNvSpPr txBox="1"/>
          <p:nvPr>
            <p:ph idx="1" type="body"/>
          </p:nvPr>
        </p:nvSpPr>
        <p:spPr>
          <a:xfrm>
            <a:off x="1297500" y="2073250"/>
            <a:ext cx="31275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Both solutions, in different configurations, execute the same code repeated n times.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/>
              <a:t>                                   Task</a:t>
            </a:r>
            <a:endParaRPr b="1"/>
          </a:p>
        </p:txBody>
      </p:sp>
      <p:pic>
        <p:nvPicPr>
          <p:cNvPr id="404" name="Google Shape;40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300" y="2245825"/>
            <a:ext cx="3448050" cy="1590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05" name="Google Shape;405;p44"/>
          <p:cNvCxnSpPr/>
          <p:nvPr/>
        </p:nvCxnSpPr>
        <p:spPr>
          <a:xfrm flipH="1" rot="10800000">
            <a:off x="3088250" y="3205950"/>
            <a:ext cx="1281600" cy="27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Virtual Threads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45"/>
          <p:cNvSpPr txBox="1"/>
          <p:nvPr>
            <p:ph idx="1" type="body"/>
          </p:nvPr>
        </p:nvSpPr>
        <p:spPr>
          <a:xfrm>
            <a:off x="865450" y="1845400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45"/>
          <p:cNvSpPr txBox="1"/>
          <p:nvPr>
            <p:ph idx="1" type="body"/>
          </p:nvPr>
        </p:nvSpPr>
        <p:spPr>
          <a:xfrm>
            <a:off x="5042625" y="912225"/>
            <a:ext cx="2336400" cy="43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000"/>
              <a:t>Example of solution</a:t>
            </a:r>
            <a:endParaRPr sz="1000"/>
          </a:p>
        </p:txBody>
      </p:sp>
      <p:cxnSp>
        <p:nvCxnSpPr>
          <p:cNvPr id="413" name="Google Shape;413;p45"/>
          <p:cNvCxnSpPr/>
          <p:nvPr/>
        </p:nvCxnSpPr>
        <p:spPr>
          <a:xfrm>
            <a:off x="6019400" y="1222525"/>
            <a:ext cx="294600" cy="30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14" name="Google Shape;4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3150" y="1930300"/>
            <a:ext cx="26479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08600" y="2326500"/>
            <a:ext cx="26479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6" name="Google Shape;416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87475" y="2734288"/>
            <a:ext cx="273367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92250" y="3104000"/>
            <a:ext cx="27241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11900" y="3416525"/>
            <a:ext cx="26384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4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927075" y="3809325"/>
            <a:ext cx="2589325" cy="262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4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30700" y="1799670"/>
            <a:ext cx="3829324" cy="25098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</a:t>
            </a:r>
            <a:r>
              <a:rPr lang="pl"/>
              <a:t> Future + Virtual Executor</a:t>
            </a:r>
            <a:endParaRPr/>
          </a:p>
        </p:txBody>
      </p:sp>
      <p:sp>
        <p:nvSpPr>
          <p:cNvPr id="426" name="Google Shape;426;p46"/>
          <p:cNvSpPr txBox="1"/>
          <p:nvPr>
            <p:ph idx="1" type="body"/>
          </p:nvPr>
        </p:nvSpPr>
        <p:spPr>
          <a:xfrm>
            <a:off x="654325" y="1729575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27" name="Google Shape;42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3875" y="1827238"/>
            <a:ext cx="2671987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Google Shape;428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33875" y="2191627"/>
            <a:ext cx="2711657" cy="236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58675" y="2602375"/>
            <a:ext cx="2725967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4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00800" y="2956400"/>
            <a:ext cx="2243150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4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25363" y="3354600"/>
            <a:ext cx="2367488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4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726200" y="3721175"/>
            <a:ext cx="2390934" cy="19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4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476324" y="1543725"/>
            <a:ext cx="4040625" cy="276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7"/>
          <p:cNvSpPr txBox="1"/>
          <p:nvPr>
            <p:ph type="title"/>
          </p:nvPr>
        </p:nvSpPr>
        <p:spPr>
          <a:xfrm>
            <a:off x="1297500" y="393750"/>
            <a:ext cx="6810300" cy="77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100"/>
              <a:t>Completable</a:t>
            </a:r>
            <a:r>
              <a:rPr lang="pl" sz="2100"/>
              <a:t> Future + Platform Executor n = 1000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39" name="Google Shape;43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0750" y="1656575"/>
            <a:ext cx="4233824" cy="253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47"/>
          <p:cNvSpPr txBox="1"/>
          <p:nvPr>
            <p:ph idx="1" type="body"/>
          </p:nvPr>
        </p:nvSpPr>
        <p:spPr>
          <a:xfrm>
            <a:off x="556150" y="1776675"/>
            <a:ext cx="2271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10 000 -&gt;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200 000 -&gt;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500 000 -&gt;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/>
              <a:t>1 000 000 -&gt;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441" name="Google Shape;44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43700" y="1851200"/>
            <a:ext cx="284797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43700" y="2219425"/>
            <a:ext cx="28860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4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78050" y="2656400"/>
            <a:ext cx="2971800" cy="16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4" name="Google Shape;444;p4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78050" y="3007650"/>
            <a:ext cx="30099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5" name="Google Shape;445;p4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97100" y="3385400"/>
            <a:ext cx="29718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6" name="Google Shape;446;p4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90675" y="3756200"/>
            <a:ext cx="298132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Completable Future </a:t>
            </a:r>
            <a:r>
              <a:rPr lang="pl" sz="2200"/>
              <a:t>+ default ForkJoinPool </a:t>
            </a:r>
            <a:endParaRPr/>
          </a:p>
        </p:txBody>
      </p:sp>
      <p:sp>
        <p:nvSpPr>
          <p:cNvPr id="452" name="Google Shape;452;p48"/>
          <p:cNvSpPr txBox="1"/>
          <p:nvPr>
            <p:ph idx="1" type="body"/>
          </p:nvPr>
        </p:nvSpPr>
        <p:spPr>
          <a:xfrm>
            <a:off x="1906300" y="1670650"/>
            <a:ext cx="764700" cy="33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10 000</a:t>
            </a:r>
            <a:endParaRPr/>
          </a:p>
        </p:txBody>
      </p:sp>
      <p:pic>
        <p:nvPicPr>
          <p:cNvPr id="453" name="Google Shape;45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2045" y="1525395"/>
            <a:ext cx="4460499" cy="299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3050" y="2689720"/>
            <a:ext cx="3038475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5" name="Google Shape;455;p48"/>
          <p:cNvCxnSpPr/>
          <p:nvPr/>
        </p:nvCxnSpPr>
        <p:spPr>
          <a:xfrm>
            <a:off x="2224125" y="2091575"/>
            <a:ext cx="14700" cy="43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Summary</a:t>
            </a:r>
            <a:endParaRPr/>
          </a:p>
        </p:txBody>
      </p:sp>
      <p:sp>
        <p:nvSpPr>
          <p:cNvPr id="461" name="Google Shape;461;p49"/>
          <p:cNvSpPr txBox="1"/>
          <p:nvPr>
            <p:ph idx="1" type="body"/>
          </p:nvPr>
        </p:nvSpPr>
        <p:spPr>
          <a:xfrm>
            <a:off x="584275" y="1587175"/>
            <a:ext cx="4197900" cy="325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On the Virtual Thread executor, both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submit()</a:t>
            </a:r>
            <a:r>
              <a:rPr lang="pl" sz="860"/>
              <a:t> and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 runAsync()</a:t>
            </a:r>
            <a:r>
              <a:rPr lang="pl" sz="860"/>
              <a:t> methods showed comparable execution times. In contrast, running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runAsync()</a:t>
            </a:r>
            <a:r>
              <a:rPr lang="pl" sz="860"/>
              <a:t> on a platform thread executor with a pool size of 1000 was significantly slower. 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This highlights that Virtual Threads provide much better performance and scalability for concurrent tasks compared to traditional Platform Threads.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Using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ExecutorService.submit()</a:t>
            </a:r>
            <a:r>
              <a:rPr lang="pl" sz="860"/>
              <a:t> with Virtual Threads:</a:t>
            </a: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simplifies code by avoiding complex callback management</a:t>
            </a:r>
            <a:br>
              <a:rPr lang="pl" sz="860"/>
            </a:b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reduces overhead from extra abstractions,</a:t>
            </a:r>
            <a:br>
              <a:rPr lang="pl" sz="860"/>
            </a:br>
            <a:endParaRPr sz="860"/>
          </a:p>
          <a:p>
            <a:pPr indent="-283269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61"/>
              <a:buFont typeface="Lato"/>
              <a:buChar char="●"/>
            </a:pPr>
            <a:r>
              <a:rPr lang="pl" sz="860"/>
              <a:t>offers clearer control over task execution and synchronization.</a:t>
            </a:r>
            <a:br>
              <a:rPr lang="pl" sz="860"/>
            </a:b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lang="pl" sz="860"/>
              <a:t>Tests show that for large scale blocking tasks, direct use of </a:t>
            </a:r>
            <a:r>
              <a:rPr lang="pl" sz="860">
                <a:latin typeface="Courier New"/>
                <a:ea typeface="Courier New"/>
                <a:cs typeface="Courier New"/>
                <a:sym typeface="Courier New"/>
              </a:rPr>
              <a:t>Virtual Threads</a:t>
            </a:r>
            <a:r>
              <a:rPr lang="pl" sz="860"/>
              <a:t>          is often faster and simpler, making it a compelling choice for modern concurrent programming.</a:t>
            </a:r>
            <a:endParaRPr sz="86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440"/>
              <a:buNone/>
            </a:pPr>
            <a:r>
              <a:t/>
            </a:r>
            <a:endParaRPr sz="620"/>
          </a:p>
        </p:txBody>
      </p:sp>
      <p:pic>
        <p:nvPicPr>
          <p:cNvPr id="462" name="Google Shape;462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36400" y="1864988"/>
            <a:ext cx="4054925" cy="2703276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49"/>
          <p:cNvSpPr txBox="1"/>
          <p:nvPr/>
        </p:nvSpPr>
        <p:spPr>
          <a:xfrm>
            <a:off x="6034150" y="136315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FF0000"/>
                </a:solidFill>
                <a:latin typeface="Amatic SC"/>
                <a:ea typeface="Amatic SC"/>
                <a:cs typeface="Amatic SC"/>
                <a:sym typeface="Amatic SC"/>
              </a:rPr>
              <a:t>The </a:t>
            </a:r>
            <a:r>
              <a:rPr lang="pl">
                <a:solidFill>
                  <a:srgbClr val="FF0000"/>
                </a:solidFill>
                <a:latin typeface="Amatic SC"/>
                <a:ea typeface="Amatic SC"/>
                <a:cs typeface="Amatic SC"/>
                <a:sym typeface="Amatic SC"/>
              </a:rPr>
              <a:t>Virtual Way won</a:t>
            </a:r>
            <a:r>
              <a:rPr lang="pl">
                <a:solidFill>
                  <a:srgbClr val="FF0000"/>
                </a:solidFill>
              </a:rPr>
              <a:t> 🔥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Spring </a:t>
            </a:r>
            <a:r>
              <a:rPr lang="pl"/>
              <a:t>Final Test (to ignore)</a:t>
            </a:r>
            <a:endParaRPr/>
          </a:p>
        </p:txBody>
      </p:sp>
      <p:sp>
        <p:nvSpPr>
          <p:cNvPr id="469" name="Google Shape;469;p50"/>
          <p:cNvSpPr txBox="1"/>
          <p:nvPr/>
        </p:nvSpPr>
        <p:spPr>
          <a:xfrm>
            <a:off x="1452750" y="1685525"/>
            <a:ext cx="6213300" cy="1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BCBEC4"/>
                </a:solidFill>
                <a:latin typeface="Lato"/>
                <a:ea typeface="Lato"/>
                <a:cs typeface="Lato"/>
                <a:sym typeface="Lato"/>
              </a:rPr>
              <a:t>Running 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IntStream.</a:t>
            </a:r>
            <a:r>
              <a:rPr b="1" i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range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pl">
                <a:solidFill>
                  <a:srgbClr val="2AACB8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pl">
                <a:solidFill>
                  <a:srgbClr val="2AACB8"/>
                </a:solidFill>
                <a:latin typeface="Courier New"/>
                <a:ea typeface="Courier New"/>
                <a:cs typeface="Courier New"/>
                <a:sym typeface="Courier New"/>
              </a:rPr>
              <a:t>100000</a:t>
            </a:r>
            <a:r>
              <a:rPr b="1" lang="pl">
                <a:solidFill>
                  <a:srgbClr val="BCBEC4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pl">
                <a:solidFill>
                  <a:srgbClr val="BCBEC4"/>
                </a:solidFill>
                <a:latin typeface="Lato"/>
                <a:ea typeface="Lato"/>
                <a:cs typeface="Lato"/>
                <a:sym typeface="Lato"/>
              </a:rPr>
              <a:t> with virtual threads caused minor database issues from too many connections. Virtual threads weren’t enabled by just adding properties—I had to configure the executor explicitly.</a:t>
            </a:r>
            <a:endParaRPr>
              <a:solidFill>
                <a:srgbClr val="BCBEC4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2AACB8"/>
              </a:solidFill>
              <a:highlight>
                <a:srgbClr val="1E1F22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70" name="Google Shape;470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5025" y="3033550"/>
            <a:ext cx="5819775" cy="314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Spring Final Test (to ignore)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51"/>
          <p:cNvSpPr txBox="1"/>
          <p:nvPr>
            <p:ph idx="1" type="body"/>
          </p:nvPr>
        </p:nvSpPr>
        <p:spPr>
          <a:xfrm>
            <a:off x="134775" y="2382938"/>
            <a:ext cx="18138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Without Virtual Threads</a:t>
            </a:r>
            <a:endParaRPr/>
          </a:p>
        </p:txBody>
      </p:sp>
      <p:sp>
        <p:nvSpPr>
          <p:cNvPr id="477" name="Google Shape;477;p51"/>
          <p:cNvSpPr txBox="1"/>
          <p:nvPr>
            <p:ph idx="1" type="body"/>
          </p:nvPr>
        </p:nvSpPr>
        <p:spPr>
          <a:xfrm>
            <a:off x="159600" y="3335338"/>
            <a:ext cx="18138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/>
              <a:t>With Virtual Threads</a:t>
            </a:r>
            <a:endParaRPr/>
          </a:p>
        </p:txBody>
      </p:sp>
      <p:pic>
        <p:nvPicPr>
          <p:cNvPr id="478" name="Google Shape;478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5450" y="1419345"/>
            <a:ext cx="3562253" cy="42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7938" y="1419345"/>
            <a:ext cx="3143308" cy="42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2100" y="2452688"/>
            <a:ext cx="269557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1" name="Google Shape;481;p5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00400" y="2452688"/>
            <a:ext cx="29146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5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07988" y="3450388"/>
            <a:ext cx="29432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5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322100" y="3431338"/>
            <a:ext cx="27527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5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32750" y="4413267"/>
            <a:ext cx="1996848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5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2353048" y="3753438"/>
            <a:ext cx="2914650" cy="266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6" name="Google Shape;486;p51"/>
          <p:cNvCxnSpPr/>
          <p:nvPr/>
        </p:nvCxnSpPr>
        <p:spPr>
          <a:xfrm flipH="1" rot="10800000">
            <a:off x="1889550" y="4058775"/>
            <a:ext cx="378000" cy="27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487" name="Google Shape;487;p51"/>
          <p:cNvCxnSpPr/>
          <p:nvPr/>
        </p:nvCxnSpPr>
        <p:spPr>
          <a:xfrm>
            <a:off x="701825" y="3101800"/>
            <a:ext cx="8034300" cy="1016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88" name="Google Shape;488;p51"/>
          <p:cNvCxnSpPr/>
          <p:nvPr/>
        </p:nvCxnSpPr>
        <p:spPr>
          <a:xfrm flipH="1" rot="10800000">
            <a:off x="750900" y="3229450"/>
            <a:ext cx="7818300" cy="8883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Questions?</a:t>
            </a:r>
            <a:endParaRPr/>
          </a:p>
        </p:txBody>
      </p:sp>
      <p:pic>
        <p:nvPicPr>
          <p:cNvPr id="494" name="Google Shape;49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9538" y="1173338"/>
            <a:ext cx="3273677" cy="3273677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52"/>
          <p:cNvSpPr txBox="1"/>
          <p:nvPr>
            <p:ph idx="1" type="body"/>
          </p:nvPr>
        </p:nvSpPr>
        <p:spPr>
          <a:xfrm>
            <a:off x="1050550" y="1911200"/>
            <a:ext cx="3093600" cy="52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1018"/>
              <a:buNone/>
            </a:pPr>
            <a:r>
              <a:rPr b="1" lang="pl" sz="1702"/>
              <a:t>Thank you for your attention!</a:t>
            </a:r>
            <a:endParaRPr b="1" sz="1702"/>
          </a:p>
        </p:txBody>
      </p:sp>
      <p:sp>
        <p:nvSpPr>
          <p:cNvPr id="496" name="Google Shape;496;p52"/>
          <p:cNvSpPr txBox="1"/>
          <p:nvPr>
            <p:ph idx="1" type="body"/>
          </p:nvPr>
        </p:nvSpPr>
        <p:spPr>
          <a:xfrm>
            <a:off x="804575" y="3194800"/>
            <a:ext cx="2984700" cy="131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/>
              <a:t>sources:</a:t>
            </a:r>
            <a:endParaRPr b="1"/>
          </a:p>
          <a:p>
            <a:pPr indent="-280193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pl" u="sng">
                <a:solidFill>
                  <a:schemeClr val="hlink"/>
                </a:solidFill>
                <a:hlinkClick r:id="rId4"/>
              </a:rPr>
              <a:t>https://openjdk.org/</a:t>
            </a:r>
            <a:endParaRPr b="1"/>
          </a:p>
          <a:p>
            <a:pPr indent="-280193" lvl="0" marL="457200" rtl="0" algn="l">
              <a:spcBef>
                <a:spcPts val="300"/>
              </a:spcBef>
              <a:spcAft>
                <a:spcPts val="0"/>
              </a:spcAft>
              <a:buSzPct val="100000"/>
              <a:buChar char="●"/>
            </a:pPr>
            <a:r>
              <a:rPr b="1" lang="pl"/>
              <a:t>Presentation “Virtual Threads, 2 years later” by </a:t>
            </a:r>
            <a:r>
              <a:rPr b="1" lang="pl"/>
              <a:t>Adam Warski </a:t>
            </a:r>
            <a:r>
              <a:rPr b="1" lang="pl"/>
              <a:t>at the Devoxx conference</a:t>
            </a:r>
            <a:endParaRPr b="1"/>
          </a:p>
          <a:p>
            <a:pPr indent="-280193" lvl="0" marL="457200" rtl="0" algn="l">
              <a:spcBef>
                <a:spcPts val="300"/>
              </a:spcBef>
              <a:spcAft>
                <a:spcPts val="300"/>
              </a:spcAft>
              <a:buSzPct val="100000"/>
              <a:buChar char="●"/>
            </a:pPr>
            <a:r>
              <a:rPr b="1" lang="pl"/>
              <a:t>Presentation “Continuations: The magic behind virtual threads in Java” by Balkrishna Rawool at the Devoxx conference</a:t>
            </a:r>
            <a:endParaRPr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