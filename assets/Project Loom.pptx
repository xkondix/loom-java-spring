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Montserrat"/>
      <p:regular r:id="rId41"/>
      <p:bold r:id="rId42"/>
      <p:italic r:id="rId43"/>
      <p:boldItalic r:id="rId44"/>
    </p:embeddedFont>
    <p:embeddedFont>
      <p:font typeface="Lat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266522-3547-41B8-AEEA-8E4626614614}">
  <a:tblStyle styleId="{46266522-3547-41B8-AEEA-8E462661461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22" Type="http://schemas.openxmlformats.org/officeDocument/2006/relationships/slide" Target="slides/slide16.xml"/><Relationship Id="rId44" Type="http://schemas.openxmlformats.org/officeDocument/2006/relationships/font" Target="fonts/Montserrat-boldItalic.fntdata"/><Relationship Id="rId21" Type="http://schemas.openxmlformats.org/officeDocument/2006/relationships/slide" Target="slides/slide15.xml"/><Relationship Id="rId43" Type="http://schemas.openxmlformats.org/officeDocument/2006/relationships/font" Target="fonts/Montserrat-italic.fntdata"/><Relationship Id="rId24" Type="http://schemas.openxmlformats.org/officeDocument/2006/relationships/slide" Target="slides/slide18.xml"/><Relationship Id="rId46" Type="http://schemas.openxmlformats.org/officeDocument/2006/relationships/font" Target="fonts/Lato-bold.fntdata"/><Relationship Id="rId23" Type="http://schemas.openxmlformats.org/officeDocument/2006/relationships/slide" Target="slides/slide17.xml"/><Relationship Id="rId45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Lato-boldItalic.fntdata"/><Relationship Id="rId25" Type="http://schemas.openxmlformats.org/officeDocument/2006/relationships/slide" Target="slides/slide19.xml"/><Relationship Id="rId47" Type="http://schemas.openxmlformats.org/officeDocument/2006/relationships/font" Target="fonts/Lato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10ff0ac51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10ff0ac51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3a9d26de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3a9d26de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3a9d26de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3a9d26de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12d7c905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12d7c905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12d7c905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712d7c905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10ff0ac51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10ff0ac51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10ff0ac51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710ff0ac51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10ff0ac51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710ff0ac51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3a9d26d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3a9d26d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3af01f438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63af01f438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3a9d26de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63a9d26de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3a9d26de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3a9d26de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72a237054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72a237054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72a237054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72a237054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72a237054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72a237054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3af01f4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63af01f4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63af01f43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63af01f43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2b8d9ff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72b8d9ff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3d11f15e3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63d11f15e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39cdc3fb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739cdc3fb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36ab0ca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736ab0ca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36ab0ca0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736ab0ca0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3f98ea77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63f98ea77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63f98ea77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63f98ea77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63f98ea77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63f98ea77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63f98ea77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63f98ea77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3f98ea77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63f98ea77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3f98ea77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63f98ea77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63f98ea77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63f98ea77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63f98ea77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63f98ea77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7439bf51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7439bf51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439bf51a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7439bf51a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7439bf51a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7439bf51a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xkondix/loom-JAVA-SP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inlibs.com/#download-release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Relationship Id="rId4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Relationship Id="rId10" Type="http://schemas.openxmlformats.org/officeDocument/2006/relationships/image" Target="../media/image39.png"/><Relationship Id="rId9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41.png"/><Relationship Id="rId7" Type="http://schemas.openxmlformats.org/officeDocument/2006/relationships/image" Target="../media/image38.png"/><Relationship Id="rId8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3.png"/><Relationship Id="rId4" Type="http://schemas.openxmlformats.org/officeDocument/2006/relationships/hyperlink" Target="https://openjdk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Project Loom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Author: Konrad Kowalczyk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Repository: </a:t>
            </a:r>
            <a:r>
              <a:rPr lang="pl" u="sng">
                <a:solidFill>
                  <a:schemeClr val="hlink"/>
                </a:solidFill>
                <a:hlinkClick r:id="rId3"/>
              </a:rPr>
              <a:t>xkondix loom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Plan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3886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V</a:t>
            </a:r>
            <a:r>
              <a:rPr lang="pl"/>
              <a:t>irtual Threads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Continuation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Virtual Threads Examples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Scoped Value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Structured Concurrency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Virtual Threads with Spring Boot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Virtual Threads vs  Comparable Future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1200"/>
              </a:spcAft>
              <a:buSzPts val="1300"/>
              <a:buChar char="●"/>
            </a:pPr>
            <a:r>
              <a:rPr lang="pl"/>
              <a:t>Questions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800" y="560613"/>
            <a:ext cx="2681526" cy="4022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Virtual &amp; Platform &amp; OS Threads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54925" y="1307850"/>
            <a:ext cx="3938400" cy="3037200"/>
          </a:xfrm>
          <a:prstGeom prst="rect">
            <a:avLst/>
          </a:prstGeom>
          <a:effectLst>
            <a:outerShdw blurRad="57150" rotWithShape="0" algn="bl" dist="2857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450000">
            <a:normAutofit fontScale="25000" lnSpcReduction="20000"/>
          </a:bodyPr>
          <a:lstStyle/>
          <a:p>
            <a:pPr indent="-288542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pl" sz="3775"/>
              <a:t>Both </a:t>
            </a:r>
            <a:r>
              <a:rPr b="1" lang="pl" sz="3775"/>
              <a:t>Platform</a:t>
            </a:r>
            <a:r>
              <a:rPr lang="pl" sz="3775"/>
              <a:t> and </a:t>
            </a:r>
            <a:r>
              <a:rPr b="1" lang="pl" sz="3775"/>
              <a:t>Virtual Threads</a:t>
            </a:r>
            <a:r>
              <a:rPr lang="pl" sz="3775"/>
              <a:t> are </a:t>
            </a:r>
            <a:r>
              <a:rPr b="1" lang="pl" sz="3775"/>
              <a:t>managed by the JVM</a:t>
            </a:r>
            <a:endParaRPr sz="3775"/>
          </a:p>
          <a:p>
            <a:pPr indent="-288542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pl" sz="3775"/>
              <a:t>Platform Threads</a:t>
            </a:r>
            <a:r>
              <a:rPr lang="pl" sz="3775"/>
              <a:t> are heavyweight and have a </a:t>
            </a:r>
            <a:r>
              <a:rPr b="1" lang="pl" sz="3775"/>
              <a:t>1:1</a:t>
            </a:r>
            <a:r>
              <a:rPr lang="pl" sz="3775"/>
              <a:t> mapping with OS threads</a:t>
            </a:r>
            <a:endParaRPr sz="3775"/>
          </a:p>
          <a:p>
            <a:pPr indent="-288542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pl" sz="3775"/>
              <a:t>Virtual Threads</a:t>
            </a:r>
            <a:r>
              <a:rPr lang="pl" sz="3775"/>
              <a:t> are lightweight and have an </a:t>
            </a:r>
            <a:r>
              <a:rPr b="1" lang="pl" sz="3775"/>
              <a:t>n:1</a:t>
            </a:r>
            <a:r>
              <a:rPr lang="pl" sz="3775"/>
              <a:t> mapping to Platform Threads</a:t>
            </a:r>
            <a:endParaRPr sz="3775"/>
          </a:p>
          <a:p>
            <a:pPr indent="-288542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pl" sz="3775"/>
              <a:t>Virtual Threads</a:t>
            </a:r>
            <a:r>
              <a:rPr lang="pl" sz="3775"/>
              <a:t> are ideal for tasks with blocking I/O or high concurrency needs</a:t>
            </a:r>
            <a:endParaRPr sz="3775"/>
          </a:p>
          <a:p>
            <a:pPr indent="-288542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pl" sz="3775"/>
              <a:t>JVM's </a:t>
            </a:r>
            <a:r>
              <a:rPr b="1" lang="pl" sz="3775"/>
              <a:t>scheduler</a:t>
            </a:r>
            <a:r>
              <a:rPr lang="pl" sz="3775"/>
              <a:t> handles Virtual Thread execution by reusing Platform Threads</a:t>
            </a:r>
            <a:endParaRPr sz="3775"/>
          </a:p>
          <a:p>
            <a:pPr indent="-288542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pl" sz="3775"/>
              <a:t>Blocking a Virtual Thread does </a:t>
            </a:r>
            <a:r>
              <a:rPr b="1" lang="pl" sz="3775"/>
              <a:t>not</a:t>
            </a:r>
            <a:r>
              <a:rPr lang="pl" sz="3775"/>
              <a:t> block the OS Thread thanks to continuation-based scheduling</a:t>
            </a:r>
            <a:endParaRPr sz="377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800" y="1460250"/>
            <a:ext cx="3385300" cy="33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Virtual Thread Scheduler</a:t>
            </a:r>
            <a:endParaRPr/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575" y="1396450"/>
            <a:ext cx="5646442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Thread.currentThread()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756175" y="1757900"/>
            <a:ext cx="1251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rPr lang="pl" sz="820"/>
              <a:t>type virtual/platform</a:t>
            </a:r>
            <a:endParaRPr sz="820"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9925" y="1729013"/>
            <a:ext cx="401002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/>
          <p:nvPr/>
        </p:nvSpPr>
        <p:spPr>
          <a:xfrm>
            <a:off x="3695675" y="1840475"/>
            <a:ext cx="1119000" cy="309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3783875" y="2477000"/>
            <a:ext cx="495900" cy="309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2632450" y="2196263"/>
            <a:ext cx="837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unique ID</a:t>
            </a:r>
            <a:endParaRPr/>
          </a:p>
        </p:txBody>
      </p:sp>
      <p:cxnSp>
        <p:nvCxnSpPr>
          <p:cNvPr id="166" name="Google Shape;166;p17"/>
          <p:cNvCxnSpPr>
            <a:stCxn id="163" idx="0"/>
          </p:cNvCxnSpPr>
          <p:nvPr/>
        </p:nvCxnSpPr>
        <p:spPr>
          <a:xfrm flipH="1" rot="5400000">
            <a:off x="3111575" y="696875"/>
            <a:ext cx="363300" cy="1923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7"/>
          <p:cNvCxnSpPr/>
          <p:nvPr/>
        </p:nvCxnSpPr>
        <p:spPr>
          <a:xfrm>
            <a:off x="2331275" y="1475975"/>
            <a:ext cx="2400" cy="36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17"/>
          <p:cNvSpPr/>
          <p:nvPr/>
        </p:nvSpPr>
        <p:spPr>
          <a:xfrm>
            <a:off x="4314175" y="2477000"/>
            <a:ext cx="309000" cy="309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4859200" y="1840475"/>
            <a:ext cx="309000" cy="309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17"/>
          <p:cNvCxnSpPr>
            <a:stCxn id="164" idx="2"/>
          </p:cNvCxnSpPr>
          <p:nvPr/>
        </p:nvCxnSpPr>
        <p:spPr>
          <a:xfrm rot="5400000">
            <a:off x="2991875" y="2150150"/>
            <a:ext cx="403800" cy="1676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7"/>
          <p:cNvCxnSpPr/>
          <p:nvPr/>
        </p:nvCxnSpPr>
        <p:spPr>
          <a:xfrm rot="10800000">
            <a:off x="2342675" y="2067200"/>
            <a:ext cx="9900" cy="112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17"/>
          <p:cNvCxnSpPr>
            <a:stCxn id="169" idx="2"/>
          </p:cNvCxnSpPr>
          <p:nvPr/>
        </p:nvCxnSpPr>
        <p:spPr>
          <a:xfrm>
            <a:off x="5013700" y="2149775"/>
            <a:ext cx="2100" cy="166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17"/>
          <p:cNvCxnSpPr/>
          <p:nvPr/>
        </p:nvCxnSpPr>
        <p:spPr>
          <a:xfrm flipH="1">
            <a:off x="3234100" y="2310988"/>
            <a:ext cx="1781700" cy="4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17"/>
          <p:cNvCxnSpPr/>
          <p:nvPr/>
        </p:nvCxnSpPr>
        <p:spPr>
          <a:xfrm rot="10800000">
            <a:off x="3278625" y="2395075"/>
            <a:ext cx="1192500" cy="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17"/>
          <p:cNvCxnSpPr>
            <a:stCxn id="168" idx="0"/>
          </p:cNvCxnSpPr>
          <p:nvPr/>
        </p:nvCxnSpPr>
        <p:spPr>
          <a:xfrm flipH="1" rot="-5400000">
            <a:off x="4468675" y="2477000"/>
            <a:ext cx="600" cy="600"/>
          </a:xfrm>
          <a:prstGeom prst="bentConnector3">
            <a:avLst>
              <a:gd fmla="val -12020833" name="adj1"/>
            </a:avLst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17"/>
          <p:cNvSpPr/>
          <p:nvPr/>
        </p:nvSpPr>
        <p:spPr>
          <a:xfrm>
            <a:off x="5860325" y="1840475"/>
            <a:ext cx="1923900" cy="309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7" name="Google Shape;177;p17"/>
          <p:cNvCxnSpPr>
            <a:stCxn id="176" idx="0"/>
          </p:cNvCxnSpPr>
          <p:nvPr/>
        </p:nvCxnSpPr>
        <p:spPr>
          <a:xfrm rot="-5400000">
            <a:off x="6709625" y="1727225"/>
            <a:ext cx="2259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7"/>
          <p:cNvCxnSpPr/>
          <p:nvPr/>
        </p:nvCxnSpPr>
        <p:spPr>
          <a:xfrm>
            <a:off x="6822000" y="1619625"/>
            <a:ext cx="642900" cy="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17"/>
          <p:cNvSpPr txBox="1"/>
          <p:nvPr>
            <p:ph idx="1" type="body"/>
          </p:nvPr>
        </p:nvSpPr>
        <p:spPr>
          <a:xfrm>
            <a:off x="7464900" y="1464975"/>
            <a:ext cx="837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platform thread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1460425" y="3715275"/>
            <a:ext cx="6017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 virtual thread is assigned to a platform thread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hile it is assigned, the platform thread is the carrier (or carrier thread) for the virtual thread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4593600" y="2477025"/>
            <a:ext cx="672600" cy="309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2" name="Google Shape;182;p17"/>
          <p:cNvCxnSpPr>
            <a:stCxn id="181" idx="2"/>
          </p:cNvCxnSpPr>
          <p:nvPr/>
        </p:nvCxnSpPr>
        <p:spPr>
          <a:xfrm flipH="1">
            <a:off x="4927500" y="2786325"/>
            <a:ext cx="2400" cy="315600"/>
          </a:xfrm>
          <a:prstGeom prst="straightConnector1">
            <a:avLst/>
          </a:prstGeom>
          <a:noFill/>
          <a:ln cap="flat" cmpd="sng" w="9525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4708050" y="3096150"/>
            <a:ext cx="4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name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Threads managed by the JVM</a:t>
            </a:r>
            <a:endParaRPr/>
          </a:p>
        </p:txBody>
      </p:sp>
      <p:sp>
        <p:nvSpPr>
          <p:cNvPr id="189" name="Google Shape;189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l" sz="1100"/>
              <a:t>Platform Thread</a:t>
            </a:r>
            <a:br>
              <a:rPr b="1" lang="pl" sz="1100"/>
            </a:br>
            <a:r>
              <a:rPr lang="pl" sz="1100"/>
              <a:t> </a:t>
            </a:r>
            <a:r>
              <a:rPr lang="pl" sz="1000"/>
              <a:t>A traditional Java thread that wraps a native </a:t>
            </a:r>
            <a:r>
              <a:rPr b="1" lang="pl" sz="1000"/>
              <a:t>Operating System (OS) thread</a:t>
            </a:r>
            <a:r>
              <a:rPr lang="pl" sz="1000"/>
              <a:t>.</a:t>
            </a:r>
            <a:br>
              <a:rPr lang="pl" sz="1000"/>
            </a:br>
            <a:r>
              <a:rPr lang="pl" sz="1000"/>
              <a:t> It is </a:t>
            </a:r>
            <a:r>
              <a:rPr b="1" lang="pl" sz="1000"/>
              <a:t>created and managed by the JVM</a:t>
            </a:r>
            <a:r>
              <a:rPr lang="pl" sz="1000"/>
              <a:t>, but its </a:t>
            </a:r>
            <a:r>
              <a:rPr b="1" lang="pl" sz="1000"/>
              <a:t>execution is scheduled by the OS thread scheduler</a:t>
            </a:r>
            <a:r>
              <a:rPr lang="pl" sz="1000"/>
              <a:t>.</a:t>
            </a:r>
            <a:br>
              <a:rPr lang="pl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l" sz="1100"/>
              <a:t>Virtual Thread</a:t>
            </a:r>
            <a:br>
              <a:rPr b="1" lang="pl" sz="1100"/>
            </a:br>
            <a:r>
              <a:rPr lang="pl" sz="1100"/>
              <a:t> </a:t>
            </a:r>
            <a:r>
              <a:rPr lang="pl" sz="1000"/>
              <a:t>A </a:t>
            </a:r>
            <a:r>
              <a:rPr b="1" lang="pl" sz="1000"/>
              <a:t>lightweight thread</a:t>
            </a:r>
            <a:r>
              <a:rPr lang="pl" sz="1000"/>
              <a:t> managed by the </a:t>
            </a:r>
            <a:r>
              <a:rPr b="1" lang="pl" sz="1000"/>
              <a:t>JVM's virtual thread scheduler</a:t>
            </a:r>
            <a:r>
              <a:rPr lang="pl" sz="1000"/>
              <a:t>.</a:t>
            </a:r>
            <a:br>
              <a:rPr lang="pl" sz="1000"/>
            </a:br>
            <a:r>
              <a:rPr lang="pl" sz="1000"/>
              <a:t> It can be </a:t>
            </a:r>
            <a:r>
              <a:rPr b="1" lang="pl" sz="1000"/>
              <a:t>mounted</a:t>
            </a:r>
            <a:r>
              <a:rPr lang="pl" sz="1000"/>
              <a:t> (bound) to a platform thread for execution when running code.</a:t>
            </a:r>
            <a:br>
              <a:rPr lang="pl" sz="1000"/>
            </a:br>
            <a:r>
              <a:rPr lang="pl" sz="1000"/>
              <a:t> Virtual threads are ideal for highly concurrent, non-blocking tasks.</a:t>
            </a:r>
            <a:br>
              <a:rPr lang="pl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l" sz="1100"/>
              <a:t>Carrier Thread</a:t>
            </a:r>
            <a:br>
              <a:rPr b="1" lang="pl" sz="1100"/>
            </a:br>
            <a:r>
              <a:rPr lang="pl" sz="1000"/>
              <a:t> A </a:t>
            </a:r>
            <a:r>
              <a:rPr b="1" lang="pl" sz="1000"/>
              <a:t>platform thread</a:t>
            </a:r>
            <a:r>
              <a:rPr lang="pl" sz="1000"/>
              <a:t> that temporarily </a:t>
            </a:r>
            <a:r>
              <a:rPr b="1" lang="pl" sz="1000"/>
              <a:t>executes a virtual thread’s code</a:t>
            </a:r>
            <a:r>
              <a:rPr lang="pl" sz="1000"/>
              <a:t> during its active phase.</a:t>
            </a:r>
            <a:br>
              <a:rPr lang="pl" sz="1000"/>
            </a:br>
            <a:r>
              <a:rPr lang="pl" sz="1000"/>
              <a:t> While mounted, the platform thread acts as the </a:t>
            </a:r>
            <a:r>
              <a:rPr b="1" lang="pl" sz="1000"/>
              <a:t>carrier</a:t>
            </a:r>
            <a:r>
              <a:rPr lang="pl" sz="1000"/>
              <a:t> for the virtual thread.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Continuation</a:t>
            </a:r>
            <a:endParaRPr/>
          </a:p>
        </p:txBody>
      </p:sp>
      <p:sp>
        <p:nvSpPr>
          <p:cNvPr id="195" name="Google Shape;195;p19"/>
          <p:cNvSpPr txBox="1"/>
          <p:nvPr>
            <p:ph idx="1" type="body"/>
          </p:nvPr>
        </p:nvSpPr>
        <p:spPr>
          <a:xfrm>
            <a:off x="1297500" y="1294050"/>
            <a:ext cx="7291500" cy="5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5300">
                <a:solidFill>
                  <a:srgbClr val="000000"/>
                </a:solidFill>
              </a:rPr>
              <a:t>⚠️ </a:t>
            </a:r>
            <a:r>
              <a:rPr b="1" lang="pl" sz="5300">
                <a:solidFill>
                  <a:srgbClr val="FF0000"/>
                </a:solidFill>
              </a:rPr>
              <a:t>Continuation </a:t>
            </a:r>
            <a:r>
              <a:rPr lang="pl" sz="5300"/>
              <a:t>is an internal JDK class that encapsulates code which can be paused and resumed later, and is not intended for public use.</a:t>
            </a:r>
            <a:endParaRPr sz="5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700" y="3313638"/>
            <a:ext cx="4152900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1359500" y="2247750"/>
            <a:ext cx="4947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File 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→ Settings (or Ctrl+Alt+S) 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→ Build, Execution, Deployment 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→ Compiler 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→ Java Compiler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4255175" y="2326350"/>
            <a:ext cx="3411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You</a:t>
            </a: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need uncheck the </a:t>
            </a:r>
            <a:r>
              <a:rPr b="1"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release</a:t>
            </a:r>
            <a:r>
              <a:rPr b="1"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box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Unlock internal classes IDEA</a:t>
            </a:r>
            <a:endParaRPr/>
          </a:p>
        </p:txBody>
      </p:sp>
      <p:sp>
        <p:nvSpPr>
          <p:cNvPr id="204" name="Google Shape;204;p20"/>
          <p:cNvSpPr txBox="1"/>
          <p:nvPr>
            <p:ph idx="1" type="body"/>
          </p:nvPr>
        </p:nvSpPr>
        <p:spPr>
          <a:xfrm>
            <a:off x="1319250" y="1818250"/>
            <a:ext cx="69954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Click CTRL + ENTER -&gt; ADD    </a:t>
            </a:r>
            <a:r>
              <a:rPr b="1" lang="pl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1" lang="pl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jdk.internal.vm.Continuation;</a:t>
            </a:r>
            <a:endParaRPr b="1"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 </a:t>
            </a:r>
            <a:endParaRPr/>
          </a:p>
        </p:txBody>
      </p:sp>
      <p:pic>
        <p:nvPicPr>
          <p:cNvPr id="205" name="Google Shape;2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000" y="3748250"/>
            <a:ext cx="6274025" cy="9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300" y="2386600"/>
            <a:ext cx="6995401" cy="116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Unlock internal classes Java Compiler</a:t>
            </a:r>
            <a:endParaRPr/>
          </a:p>
        </p:txBody>
      </p:sp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1015950" y="1567550"/>
            <a:ext cx="2807700" cy="23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File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→ Settings (or Ctrl+Alt+S)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   → Build, Execution, Deployment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      → Compiler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         → Java Compiler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6250" y="1376825"/>
            <a:ext cx="4709404" cy="353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795075" y="3877250"/>
            <a:ext cx="32097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--enable-preview </a:t>
            </a:r>
            <a:r>
              <a:rPr b="1" lang="pl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--add-exports java.base/jdk.internal.vm=ALL-UNNAMED </a:t>
            </a:r>
            <a:endParaRPr b="1"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Unlock internal classes VM Options</a:t>
            </a:r>
            <a:endParaRPr/>
          </a:p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>
            <a:off x="694925" y="1795650"/>
            <a:ext cx="4332000" cy="31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200">
                <a:latin typeface="Arial"/>
                <a:ea typeface="Arial"/>
                <a:cs typeface="Arial"/>
                <a:sym typeface="Arial"/>
              </a:rPr>
              <a:t>Steps: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2200">
                <a:latin typeface="Arial"/>
                <a:ea typeface="Arial"/>
                <a:cs typeface="Arial"/>
                <a:sym typeface="Arial"/>
              </a:rPr>
              <a:t>Run</a:t>
            </a:r>
            <a:br>
              <a:rPr b="1" lang="pl" sz="1091">
                <a:latin typeface="Arial"/>
                <a:ea typeface="Arial"/>
                <a:cs typeface="Arial"/>
                <a:sym typeface="Arial"/>
              </a:rPr>
            </a:br>
            <a:r>
              <a:rPr lang="pl" sz="2271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lang="pl" sz="2271">
                <a:latin typeface="Arial"/>
                <a:ea typeface="Arial"/>
                <a:cs typeface="Arial"/>
                <a:sym typeface="Arial"/>
              </a:rPr>
              <a:t>Edit Configurations</a:t>
            </a:r>
            <a:r>
              <a:rPr lang="pl" sz="2271">
                <a:latin typeface="Arial"/>
                <a:ea typeface="Arial"/>
                <a:cs typeface="Arial"/>
                <a:sym typeface="Arial"/>
              </a:rPr>
              <a:t> (from the top menu)</a:t>
            </a:r>
            <a:br>
              <a:rPr lang="pl" sz="2271">
                <a:latin typeface="Arial"/>
                <a:ea typeface="Arial"/>
                <a:cs typeface="Arial"/>
                <a:sym typeface="Arial"/>
              </a:rPr>
            </a:br>
            <a:r>
              <a:rPr lang="pl" sz="2271">
                <a:latin typeface="Arial"/>
                <a:ea typeface="Arial"/>
                <a:cs typeface="Arial"/>
                <a:sym typeface="Arial"/>
              </a:rPr>
              <a:t>  → in the bottom-left corner, click </a:t>
            </a:r>
            <a:r>
              <a:rPr b="1" lang="pl" sz="2271">
                <a:latin typeface="Arial"/>
                <a:ea typeface="Arial"/>
                <a:cs typeface="Arial"/>
                <a:sym typeface="Arial"/>
              </a:rPr>
              <a:t>Edit configuration templates</a:t>
            </a:r>
            <a:br>
              <a:rPr b="1" lang="pl" sz="2271">
                <a:latin typeface="Arial"/>
                <a:ea typeface="Arial"/>
                <a:cs typeface="Arial"/>
                <a:sym typeface="Arial"/>
              </a:rPr>
            </a:br>
            <a:r>
              <a:rPr lang="pl" sz="2271">
                <a:latin typeface="Arial"/>
                <a:ea typeface="Arial"/>
                <a:cs typeface="Arial"/>
                <a:sym typeface="Arial"/>
              </a:rPr>
              <a:t>   → select </a:t>
            </a:r>
            <a:r>
              <a:rPr b="1" lang="pl" sz="2271">
                <a:latin typeface="Arial"/>
                <a:ea typeface="Arial"/>
                <a:cs typeface="Arial"/>
                <a:sym typeface="Arial"/>
              </a:rPr>
              <a:t>Application</a:t>
            </a:r>
            <a:br>
              <a:rPr b="1" lang="pl" sz="2271">
                <a:latin typeface="Arial"/>
                <a:ea typeface="Arial"/>
                <a:cs typeface="Arial"/>
                <a:sym typeface="Arial"/>
              </a:rPr>
            </a:br>
            <a:r>
              <a:rPr lang="pl" sz="2271">
                <a:latin typeface="Arial"/>
                <a:ea typeface="Arial"/>
                <a:cs typeface="Arial"/>
                <a:sym typeface="Arial"/>
              </a:rPr>
              <a:t>    → in the </a:t>
            </a:r>
            <a:r>
              <a:rPr b="1" lang="pl" sz="2271">
                <a:latin typeface="Arial"/>
                <a:ea typeface="Arial"/>
                <a:cs typeface="Arial"/>
                <a:sym typeface="Arial"/>
              </a:rPr>
              <a:t>VM options</a:t>
            </a:r>
            <a:r>
              <a:rPr lang="pl" sz="2271">
                <a:latin typeface="Arial"/>
                <a:ea typeface="Arial"/>
                <a:cs typeface="Arial"/>
                <a:sym typeface="Arial"/>
              </a:rPr>
              <a:t> field, enter:</a:t>
            </a:r>
            <a:br>
              <a:rPr lang="pl" sz="691">
                <a:latin typeface="Arial"/>
                <a:ea typeface="Arial"/>
                <a:cs typeface="Arial"/>
                <a:sym typeface="Arial"/>
              </a:rPr>
            </a:br>
            <a:r>
              <a:rPr lang="pl" sz="691">
                <a:latin typeface="Arial"/>
                <a:ea typeface="Arial"/>
                <a:cs typeface="Arial"/>
                <a:sym typeface="Arial"/>
              </a:rPr>
              <a:t>   </a:t>
            </a:r>
            <a:r>
              <a:rPr lang="pl" sz="1534">
                <a:latin typeface="Arial"/>
                <a:ea typeface="Arial"/>
                <a:cs typeface="Arial"/>
                <a:sym typeface="Arial"/>
              </a:rPr>
              <a:t>  </a:t>
            </a:r>
            <a:r>
              <a:rPr b="1" lang="pl" sz="1534">
                <a:latin typeface="Courier New"/>
                <a:ea typeface="Courier New"/>
                <a:cs typeface="Courier New"/>
                <a:sym typeface="Courier New"/>
              </a:rPr>
              <a:t>--enable-preview --add-exports java.base/jdk.internal.vm=ALL-UNNAMED</a:t>
            </a:r>
            <a:endParaRPr b="1" sz="1534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2262">
                <a:latin typeface="Arial"/>
                <a:ea typeface="Arial"/>
                <a:cs typeface="Arial"/>
                <a:sym typeface="Arial"/>
              </a:rPr>
              <a:t>Click </a:t>
            </a:r>
            <a:r>
              <a:rPr b="1" lang="pl" sz="2262">
                <a:latin typeface="Arial"/>
                <a:ea typeface="Arial"/>
                <a:cs typeface="Arial"/>
                <a:sym typeface="Arial"/>
              </a:rPr>
              <a:t>Apply</a:t>
            </a:r>
            <a:r>
              <a:rPr lang="pl" sz="2262">
                <a:latin typeface="Arial"/>
                <a:ea typeface="Arial"/>
                <a:cs typeface="Arial"/>
                <a:sym typeface="Arial"/>
              </a:rPr>
              <a:t>, then </a:t>
            </a:r>
            <a:r>
              <a:rPr b="1" lang="pl" sz="2262"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l" sz="2262">
                <a:latin typeface="Arial"/>
                <a:ea typeface="Arial"/>
                <a:cs typeface="Arial"/>
                <a:sym typeface="Arial"/>
              </a:rPr>
              <a:t>.</a:t>
            </a:r>
            <a:endParaRPr sz="2262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0553" y="1769525"/>
            <a:ext cx="3379075" cy="290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JAVA 25</a:t>
            </a:r>
            <a:endParaRPr/>
          </a:p>
        </p:txBody>
      </p:sp>
      <p:sp>
        <p:nvSpPr>
          <p:cNvPr id="227" name="Google Shape;227;p23"/>
          <p:cNvSpPr txBox="1"/>
          <p:nvPr>
            <p:ph idx="1" type="body"/>
          </p:nvPr>
        </p:nvSpPr>
        <p:spPr>
          <a:xfrm>
            <a:off x="1385850" y="2626700"/>
            <a:ext cx="2064300" cy="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https://jdk.java.net./25/</a:t>
            </a:r>
            <a:endParaRPr/>
          </a:p>
        </p:txBody>
      </p:sp>
      <p:pic>
        <p:nvPicPr>
          <p:cNvPr id="228" name="Google Shape;2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9024" y="1820825"/>
            <a:ext cx="3296049" cy="277614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1420450" y="1184975"/>
            <a:ext cx="2064300" cy="6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/>
              <a:t>Option 1</a:t>
            </a:r>
            <a:endParaRPr b="1"/>
          </a:p>
        </p:txBody>
      </p:sp>
      <p:sp>
        <p:nvSpPr>
          <p:cNvPr id="230" name="Google Shape;230;p23"/>
          <p:cNvSpPr txBox="1"/>
          <p:nvPr>
            <p:ph idx="1" type="body"/>
          </p:nvPr>
        </p:nvSpPr>
        <p:spPr>
          <a:xfrm>
            <a:off x="5496450" y="1184975"/>
            <a:ext cx="2064300" cy="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/>
              <a:t>Option 2</a:t>
            </a:r>
            <a:endParaRPr b="1"/>
          </a:p>
        </p:txBody>
      </p:sp>
      <p:cxnSp>
        <p:nvCxnSpPr>
          <p:cNvPr id="231" name="Google Shape;231;p23"/>
          <p:cNvCxnSpPr/>
          <p:nvPr/>
        </p:nvCxnSpPr>
        <p:spPr>
          <a:xfrm>
            <a:off x="1806125" y="1585475"/>
            <a:ext cx="353400" cy="89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23"/>
          <p:cNvCxnSpPr/>
          <p:nvPr/>
        </p:nvCxnSpPr>
        <p:spPr>
          <a:xfrm>
            <a:off x="5938825" y="1497400"/>
            <a:ext cx="181500" cy="2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Virtual Thread Scheduler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4"/>
          <p:cNvSpPr txBox="1"/>
          <p:nvPr>
            <p:ph idx="1" type="body"/>
          </p:nvPr>
        </p:nvSpPr>
        <p:spPr>
          <a:xfrm>
            <a:off x="1297500" y="1567550"/>
            <a:ext cx="6030000" cy="7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VM options  </a:t>
            </a:r>
            <a:r>
              <a:rPr b="1" lang="pl" sz="110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-Djdk.virtualThreadScheduler.parallelism=2</a:t>
            </a:r>
            <a:endParaRPr b="1" sz="1100"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313" y="2517413"/>
            <a:ext cx="5457825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Pinning</a:t>
            </a:r>
            <a:endParaRPr/>
          </a:p>
        </p:txBody>
      </p:sp>
      <p:sp>
        <p:nvSpPr>
          <p:cNvPr id="245" name="Google Shape;245;p25"/>
          <p:cNvSpPr txBox="1"/>
          <p:nvPr>
            <p:ph idx="1" type="body"/>
          </p:nvPr>
        </p:nvSpPr>
        <p:spPr>
          <a:xfrm>
            <a:off x="1562500" y="1430125"/>
            <a:ext cx="66780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/>
              <a:t>Pinning occurs when the virtual thread does not release the platform thread.</a:t>
            </a:r>
            <a:endParaRPr sz="1500"/>
          </a:p>
        </p:txBody>
      </p:sp>
      <p:sp>
        <p:nvSpPr>
          <p:cNvPr id="246" name="Google Shape;246;p25"/>
          <p:cNvSpPr txBox="1"/>
          <p:nvPr>
            <p:ph idx="1" type="body"/>
          </p:nvPr>
        </p:nvSpPr>
        <p:spPr>
          <a:xfrm>
            <a:off x="1474425" y="2132475"/>
            <a:ext cx="3163500" cy="26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/>
              <a:t>JAVA 21</a:t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l" sz="1500"/>
              <a:t>synchronized blocks ❌ 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l" sz="1500"/>
              <a:t>datagram sockets ❌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l" sz="1500"/>
              <a:t>DNS lookups ❌</a:t>
            </a:r>
            <a:r>
              <a:rPr lang="pl" sz="1500">
                <a:solidFill>
                  <a:srgbClr val="FF00FF"/>
                </a:solidFill>
              </a:rPr>
              <a:t>❔️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l" sz="1500"/>
              <a:t>native blocking code ❌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l" sz="1500"/>
              <a:t>file operations ❌ </a:t>
            </a:r>
            <a:r>
              <a:rPr lang="pl" sz="1500">
                <a:solidFill>
                  <a:srgbClr val="FF00FF"/>
                </a:solidFill>
              </a:rPr>
              <a:t>❔️</a:t>
            </a:r>
            <a:endParaRPr sz="1500">
              <a:solidFill>
                <a:srgbClr val="FF00FF"/>
              </a:solidFill>
            </a:endParaRPr>
          </a:p>
        </p:txBody>
      </p:sp>
      <p:sp>
        <p:nvSpPr>
          <p:cNvPr id="247" name="Google Shape;247;p25"/>
          <p:cNvSpPr txBox="1"/>
          <p:nvPr>
            <p:ph idx="1" type="body"/>
          </p:nvPr>
        </p:nvSpPr>
        <p:spPr>
          <a:xfrm>
            <a:off x="4988750" y="2132475"/>
            <a:ext cx="3055200" cy="26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/>
              <a:t>JAVA 25</a:t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l" sz="1500"/>
              <a:t>synchronized blocks  ✅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l" sz="1500"/>
              <a:t>datagram sockets ❌❔️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l" sz="1500"/>
              <a:t>DNS lookups ❌</a:t>
            </a:r>
            <a:r>
              <a:rPr lang="pl" sz="1500">
                <a:solidFill>
                  <a:srgbClr val="FF00FF"/>
                </a:solidFill>
              </a:rPr>
              <a:t>❔️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l" sz="1500"/>
              <a:t>native blocking code ❌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l" sz="1500"/>
              <a:t>file operations ❌❔️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Synchronized blocks</a:t>
            </a:r>
            <a:endParaRPr/>
          </a:p>
        </p:txBody>
      </p:sp>
      <p:sp>
        <p:nvSpPr>
          <p:cNvPr id="253" name="Google Shape;253;p26"/>
          <p:cNvSpPr txBox="1"/>
          <p:nvPr>
            <p:ph idx="1" type="body"/>
          </p:nvPr>
        </p:nvSpPr>
        <p:spPr>
          <a:xfrm>
            <a:off x="1744100" y="2658075"/>
            <a:ext cx="18042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/>
              <a:t>JAVA 21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5467675" y="1579700"/>
            <a:ext cx="192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JAVA 25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5" name="Google Shape;2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9697" y="2228425"/>
            <a:ext cx="3432050" cy="73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0000" y="3494125"/>
            <a:ext cx="7346850" cy="1050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26"/>
          <p:cNvCxnSpPr>
            <a:stCxn id="254" idx="2"/>
            <a:endCxn id="255" idx="0"/>
          </p:cNvCxnSpPr>
          <p:nvPr/>
        </p:nvCxnSpPr>
        <p:spPr>
          <a:xfrm>
            <a:off x="6432025" y="1995200"/>
            <a:ext cx="7380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26"/>
          <p:cNvCxnSpPr>
            <a:stCxn id="253" idx="2"/>
          </p:cNvCxnSpPr>
          <p:nvPr/>
        </p:nvCxnSpPr>
        <p:spPr>
          <a:xfrm>
            <a:off x="2646200" y="3097875"/>
            <a:ext cx="909600" cy="35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26"/>
          <p:cNvSpPr txBox="1"/>
          <p:nvPr>
            <p:ph idx="1" type="body"/>
          </p:nvPr>
        </p:nvSpPr>
        <p:spPr>
          <a:xfrm>
            <a:off x="689125" y="1479625"/>
            <a:ext cx="4479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4300"/>
              <a:t>vm options </a:t>
            </a:r>
            <a:endParaRPr sz="43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757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-Djdk.tracePinnedThreads=short -Djdk.virtualThreadScheduler.parallelism=</a:t>
            </a:r>
            <a:r>
              <a:rPr b="1" lang="pl" sz="2757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2757">
              <a:solidFill>
                <a:srgbClr val="2AACB8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ReentrantLock</a:t>
            </a:r>
            <a:endParaRPr/>
          </a:p>
        </p:txBody>
      </p:sp>
      <p:sp>
        <p:nvSpPr>
          <p:cNvPr id="265" name="Google Shape;265;p27"/>
          <p:cNvSpPr txBox="1"/>
          <p:nvPr>
            <p:ph idx="1" type="body"/>
          </p:nvPr>
        </p:nvSpPr>
        <p:spPr>
          <a:xfrm>
            <a:off x="1744100" y="2627650"/>
            <a:ext cx="18042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/>
              <a:t>JAVA 21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5467675" y="1579700"/>
            <a:ext cx="192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JAVA 25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" name="Google Shape;267;p27"/>
          <p:cNvSpPr txBox="1"/>
          <p:nvPr>
            <p:ph idx="1" type="body"/>
          </p:nvPr>
        </p:nvSpPr>
        <p:spPr>
          <a:xfrm>
            <a:off x="689125" y="1479625"/>
            <a:ext cx="4479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4300"/>
              <a:t>vm options </a:t>
            </a:r>
            <a:endParaRPr sz="43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757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-Djdk.tracePinnedThreads=short -Djdk.virtualThreadScheduler.parallelism=</a:t>
            </a:r>
            <a:r>
              <a:rPr b="1" lang="pl" sz="2757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2757">
              <a:solidFill>
                <a:srgbClr val="2AACB8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/>
          </a:p>
        </p:txBody>
      </p:sp>
      <p:pic>
        <p:nvPicPr>
          <p:cNvPr id="268" name="Google Shape;2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325" y="3401425"/>
            <a:ext cx="7892551" cy="10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3675" y="2267050"/>
            <a:ext cx="3943926" cy="83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0" name="Google Shape;270;p27"/>
          <p:cNvCxnSpPr>
            <a:stCxn id="266" idx="2"/>
          </p:cNvCxnSpPr>
          <p:nvPr/>
        </p:nvCxnSpPr>
        <p:spPr>
          <a:xfrm>
            <a:off x="6432025" y="1995200"/>
            <a:ext cx="174000" cy="22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27"/>
          <p:cNvCxnSpPr>
            <a:stCxn id="265" idx="2"/>
          </p:cNvCxnSpPr>
          <p:nvPr/>
        </p:nvCxnSpPr>
        <p:spPr>
          <a:xfrm>
            <a:off x="2646200" y="3067450"/>
            <a:ext cx="229800" cy="25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IO operations</a:t>
            </a:r>
            <a:endParaRPr/>
          </a:p>
        </p:txBody>
      </p:sp>
      <p:sp>
        <p:nvSpPr>
          <p:cNvPr id="277" name="Google Shape;277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 have not been able to reproduce it, but based on the documentation it is probably possible in both JAVA 21 and JAVA 25.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Nevertheless, many operations are safe in both versions. More in the documentation.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VM options  </a:t>
            </a:r>
            <a:r>
              <a:rPr b="1" lang="pl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-Djdk.tracePinnedThreads=full</a:t>
            </a:r>
            <a:endParaRPr b="1"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link to doc -&gt; https://openjdk.org/jeps/444#java-io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Datagram Socket</a:t>
            </a:r>
            <a:endParaRPr/>
          </a:p>
        </p:txBody>
      </p:sp>
      <p:pic>
        <p:nvPicPr>
          <p:cNvPr id="283" name="Google Shape;2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875" y="3977975"/>
            <a:ext cx="5791150" cy="65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913" y="2400200"/>
            <a:ext cx="5030375" cy="9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9"/>
          <p:cNvSpPr txBox="1"/>
          <p:nvPr>
            <p:ph idx="1" type="body"/>
          </p:nvPr>
        </p:nvSpPr>
        <p:spPr>
          <a:xfrm>
            <a:off x="1297500" y="3152800"/>
            <a:ext cx="18042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/>
              <a:t>JAVA 21</a:t>
            </a: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5467675" y="1579700"/>
            <a:ext cx="192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JAVA 25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7" name="Google Shape;287;p29"/>
          <p:cNvCxnSpPr>
            <a:stCxn id="286" idx="2"/>
          </p:cNvCxnSpPr>
          <p:nvPr/>
        </p:nvCxnSpPr>
        <p:spPr>
          <a:xfrm>
            <a:off x="6432025" y="1995200"/>
            <a:ext cx="370500" cy="40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p29"/>
          <p:cNvCxnSpPr>
            <a:stCxn id="285" idx="2"/>
          </p:cNvCxnSpPr>
          <p:nvPr/>
        </p:nvCxnSpPr>
        <p:spPr>
          <a:xfrm>
            <a:off x="2199600" y="3592600"/>
            <a:ext cx="333000" cy="30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" name="Google Shape;289;p29"/>
          <p:cNvSpPr txBox="1"/>
          <p:nvPr/>
        </p:nvSpPr>
        <p:spPr>
          <a:xfrm>
            <a:off x="412275" y="1614700"/>
            <a:ext cx="3000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VM options  </a:t>
            </a:r>
            <a:r>
              <a:rPr b="1" lang="pl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-Djdk.tracePinnedThreads=short</a:t>
            </a:r>
            <a:endParaRPr b="1"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DNS lookups</a:t>
            </a:r>
            <a:endParaRPr/>
          </a:p>
        </p:txBody>
      </p:sp>
      <p:sp>
        <p:nvSpPr>
          <p:cNvPr id="295" name="Google Shape;295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 have not been able to reproduce it, but based on the documentation it is probably possible in both JAVA 21 and JAVA 25.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VM options  </a:t>
            </a:r>
            <a:r>
              <a:rPr b="1" lang="pl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-Djdk.tracePinnedThreads=full</a:t>
            </a:r>
            <a:endParaRPr b="1"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link to doc -&gt; https://openjdk.org/jeps/444#Networking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Native blocking code </a:t>
            </a:r>
            <a:endParaRPr/>
          </a:p>
        </p:txBody>
      </p:sp>
      <p:sp>
        <p:nvSpPr>
          <p:cNvPr id="301" name="Google Shape;301;p31"/>
          <p:cNvSpPr txBox="1"/>
          <p:nvPr>
            <p:ph idx="1" type="body"/>
          </p:nvPr>
        </p:nvSpPr>
        <p:spPr>
          <a:xfrm>
            <a:off x="5248375" y="1331850"/>
            <a:ext cx="3375000" cy="12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900"/>
              <a:t>1. download gcc </a:t>
            </a:r>
            <a:r>
              <a:rPr lang="pl" sz="2900" u="sng">
                <a:solidFill>
                  <a:schemeClr val="hlink"/>
                </a:solidFill>
                <a:hlinkClick r:id="rId3"/>
              </a:rPr>
              <a:t>https://winlibs.com/#download-release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900"/>
              <a:t>2. add to path bin folder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900"/>
              <a:t>3. cd .\src\main\resources  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900"/>
              <a:t>4. run: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-2746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l" sz="2900"/>
              <a:t>gcc -I"$env:JAVA_HOME\include" -I"$env:JAVA_HOME\include\win32" -shared -o native.dll native.c</a:t>
            </a:r>
            <a:endParaRPr sz="2900"/>
          </a:p>
          <a:p>
            <a:pPr indent="-2746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l" sz="2900"/>
              <a:t>gcc -I"$env:JAVA_HOME\include" -I"$env:JAVA_HOME\include\win32" -shared -o native2.dll native2.c</a:t>
            </a:r>
            <a:endParaRPr sz="2900"/>
          </a:p>
          <a:p>
            <a:pPr indent="-2746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l" sz="2900"/>
              <a:t>gcc -I"$env:JAVA_HOME\include" -I"$env:JAVA_HOME\include\win32" -shared -o native3.dll native3.c</a:t>
            </a:r>
            <a:endParaRPr sz="2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900"/>
              <a:t>5. VM options </a:t>
            </a:r>
            <a:r>
              <a:rPr b="1" lang="pl" sz="2900"/>
              <a:t>-Djdk.tracePinnedThreads=full -Djava.library.path=C:\Users\konra\Desktop\loom\src\main\resources</a:t>
            </a:r>
            <a:endParaRPr b="1"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1"/>
          <p:cNvSpPr txBox="1"/>
          <p:nvPr/>
        </p:nvSpPr>
        <p:spPr>
          <a:xfrm>
            <a:off x="1297500" y="1570850"/>
            <a:ext cx="3547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“There are two scenarios in which a virtual thread cannot be unmounted during blocking operations because it is pinned to its carrier: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When it executes code inside a synchronized block or method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When it executes a native method or a foreign function “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3" name="Google Shape;30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8372" y="3237000"/>
            <a:ext cx="1551900" cy="151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1475" y="3637675"/>
            <a:ext cx="181927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Scoped Value</a:t>
            </a:r>
            <a:endParaRPr/>
          </a:p>
        </p:txBody>
      </p:sp>
      <p:sp>
        <p:nvSpPr>
          <p:cNvPr id="310" name="Google Shape;310;p32"/>
          <p:cNvSpPr txBox="1"/>
          <p:nvPr>
            <p:ph idx="1" type="body"/>
          </p:nvPr>
        </p:nvSpPr>
        <p:spPr>
          <a:xfrm>
            <a:off x="1317800" y="1268250"/>
            <a:ext cx="7038900" cy="13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pl" sz="975"/>
              <a:t>A </a:t>
            </a:r>
            <a:r>
              <a:rPr b="1" lang="pl" sz="975"/>
              <a:t>ScopedValue</a:t>
            </a:r>
            <a:r>
              <a:rPr lang="pl" sz="975"/>
              <a:t> is a new way in Java to safely share </a:t>
            </a:r>
            <a:r>
              <a:rPr i="1" lang="pl" sz="975"/>
              <a:t>immutable data</a:t>
            </a:r>
            <a:r>
              <a:rPr lang="pl" sz="975"/>
              <a:t> across methods and threads, </a:t>
            </a:r>
            <a:r>
              <a:rPr b="1" lang="pl" sz="975"/>
              <a:t>without using thread-local variables</a:t>
            </a:r>
            <a:r>
              <a:rPr lang="pl" sz="975"/>
              <a:t>.</a:t>
            </a:r>
            <a:endParaRPr sz="97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pl" sz="975"/>
              <a:t>It allows you to:</a:t>
            </a:r>
            <a:endParaRPr sz="975"/>
          </a:p>
          <a:p>
            <a:pPr indent="-29051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975"/>
              <a:buFont typeface="Lato"/>
              <a:buChar char="●"/>
            </a:pPr>
            <a:r>
              <a:rPr lang="pl" sz="975"/>
              <a:t>Bind a value to a </a:t>
            </a:r>
            <a:r>
              <a:rPr i="1" lang="pl" sz="975"/>
              <a:t>limited dynamic scope</a:t>
            </a:r>
            <a:br>
              <a:rPr lang="pl" sz="975"/>
            </a:br>
            <a:endParaRPr sz="975"/>
          </a:p>
          <a:p>
            <a:pPr indent="-29051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75"/>
              <a:buFont typeface="Lato"/>
              <a:buChar char="●"/>
            </a:pPr>
            <a:r>
              <a:rPr lang="pl" sz="975"/>
              <a:t>Pass context (like user info, config, etc.) to other methods or threads in a safe and clean way</a:t>
            </a:r>
            <a:br>
              <a:rPr lang="pl" sz="975"/>
            </a:br>
            <a:endParaRPr sz="975"/>
          </a:p>
          <a:p>
            <a:pPr indent="-29051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●"/>
            </a:pPr>
            <a:r>
              <a:rPr lang="pl" sz="975"/>
              <a:t>Avoid common problems of ThreadLocal, such as leaks or incorrect inheritance</a:t>
            </a:r>
            <a:br>
              <a:rPr lang="pl" sz="975"/>
            </a:br>
            <a:endParaRPr sz="97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pl" sz="975"/>
              <a:t>Scoped values are </a:t>
            </a:r>
            <a:r>
              <a:rPr b="1" lang="pl" sz="975"/>
              <a:t>immutable</a:t>
            </a:r>
            <a:r>
              <a:rPr lang="pl" sz="975"/>
              <a:t>, </a:t>
            </a:r>
            <a:r>
              <a:rPr b="1" lang="pl" sz="975"/>
              <a:t>inheritable</a:t>
            </a:r>
            <a:r>
              <a:rPr lang="pl" sz="975"/>
              <a:t>, and </a:t>
            </a:r>
            <a:r>
              <a:rPr b="1" lang="pl" sz="975"/>
              <a:t>automatically cleared</a:t>
            </a:r>
            <a:r>
              <a:rPr lang="pl" sz="975"/>
              <a:t> when out of scope.</a:t>
            </a:r>
            <a:endParaRPr sz="97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25"/>
          </a:p>
        </p:txBody>
      </p:sp>
      <p:sp>
        <p:nvSpPr>
          <p:cNvPr id="311" name="Google Shape;311;p32"/>
          <p:cNvSpPr txBox="1"/>
          <p:nvPr/>
        </p:nvSpPr>
        <p:spPr>
          <a:xfrm>
            <a:off x="5396425" y="3674950"/>
            <a:ext cx="2350800" cy="15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JAVA 25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38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b="1"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Release</a:t>
            </a:r>
            <a:r>
              <a:rPr b="1"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https://openjdk.org/jeps/506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38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2"/>
          <p:cNvSpPr txBox="1"/>
          <p:nvPr/>
        </p:nvSpPr>
        <p:spPr>
          <a:xfrm>
            <a:off x="1899450" y="3674950"/>
            <a:ext cx="2733600" cy="1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JAVA 21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38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(Preview)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38100" rtl="0" algn="ctr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https://openjdk.org/jeps/446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ThreadLocal vs ScopedValue</a:t>
            </a:r>
            <a:endParaRPr/>
          </a:p>
        </p:txBody>
      </p:sp>
      <p:graphicFrame>
        <p:nvGraphicFramePr>
          <p:cNvPr id="318" name="Google Shape;318;p33"/>
          <p:cNvGraphicFramePr/>
          <p:nvPr/>
        </p:nvGraphicFramePr>
        <p:xfrm>
          <a:off x="1183100" y="109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{46266522-3547-41B8-AEEA-8E4626614614}</a:tableStyleId>
              </a:tblPr>
              <a:tblGrid>
                <a:gridCol w="1046650"/>
                <a:gridCol w="2705425"/>
                <a:gridCol w="3537625"/>
              </a:tblGrid>
              <a:tr h="272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 b="1" sz="11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ThreadLocal</a:t>
                      </a:r>
                      <a:endParaRPr b="1" sz="11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ScopedValue</a:t>
                      </a:r>
                      <a:endParaRPr b="1" sz="11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Mutability</a:t>
                      </a:r>
                      <a:endParaRPr b="1" sz="11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Mutable – the value can be set or changed at any time.</a:t>
                      </a:r>
                      <a:endParaRPr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Immutable reference – value is fixed for the duration of the scope (object itself can still be mutable).</a:t>
                      </a:r>
                      <a:endParaRPr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Scope</a:t>
                      </a:r>
                      <a:endParaRPr b="1" sz="11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Bound to the entire thread lifetime (manual cleanup required).</a:t>
                      </a:r>
                      <a:endParaRPr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Bound to a well-defined dynamic scope (ScopedValue.where(...).run(...) or .call(...)).</a:t>
                      </a:r>
                      <a:endParaRPr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Thread Safety</a:t>
                      </a:r>
                      <a:endParaRPr b="1" sz="11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Easy to misuse – may leak values or accidentally share between threads.</a:t>
                      </a:r>
                      <a:endParaRPr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Safe by design – no accidental sharing or leaks.</a:t>
                      </a:r>
                      <a:endParaRPr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Virtual Threads</a:t>
                      </a:r>
                      <a:endParaRPr b="1" sz="11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 recommended – can cause memory leaks or unexpected behavior due to carrier thread reuse.</a:t>
                      </a:r>
                      <a:endParaRPr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Designed to work well with virtual threads and structured concurrency.</a:t>
                      </a:r>
                      <a:endParaRPr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Inheritance</a:t>
                      </a:r>
                      <a:endParaRPr b="1" sz="11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Supports implicit inheritance (InheritableThreadLocal), but this is often error-prone.</a:t>
                      </a:r>
                      <a:endParaRPr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implicit inheritance – all context passing is explicit.</a:t>
                      </a:r>
                      <a:endParaRPr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Cleanup</a:t>
                      </a:r>
                      <a:endParaRPr b="1" sz="11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Must be manually cleared to avoid leaks.</a:t>
                      </a:r>
                      <a:endParaRPr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Automatically cleared when the scope exits.</a:t>
                      </a:r>
                      <a:endParaRPr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Performance</a:t>
                      </a:r>
                      <a:endParaRPr b="1" sz="11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Can be slower and more error-prone in modern concurrent environments; fine for simple thread-bound values.</a:t>
                      </a:r>
                      <a:endParaRPr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Often faster in concurrent/virtual thread scenarios and reduces logic errors.</a:t>
                      </a:r>
                      <a:endParaRPr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Structured </a:t>
            </a:r>
            <a:r>
              <a:rPr lang="pl"/>
              <a:t>Concurrency</a:t>
            </a:r>
            <a:endParaRPr/>
          </a:p>
        </p:txBody>
      </p:sp>
      <p:sp>
        <p:nvSpPr>
          <p:cNvPr id="324" name="Google Shape;324;p34"/>
          <p:cNvSpPr txBox="1"/>
          <p:nvPr>
            <p:ph idx="1" type="body"/>
          </p:nvPr>
        </p:nvSpPr>
        <p:spPr>
          <a:xfrm>
            <a:off x="1297500" y="1567550"/>
            <a:ext cx="7038900" cy="14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049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l"/>
              <a:t>StructuredTaskScope.ShutdownOnFailure()</a:t>
            </a:r>
            <a:r>
              <a:rPr lang="pl"/>
              <a:t> – cancels the remaining tasks on the first failure</a:t>
            </a:r>
            <a:endParaRPr/>
          </a:p>
          <a:p>
            <a:pPr indent="-3049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l"/>
              <a:t>StructuredTaskScope.ShutdownOnSuccess() </a:t>
            </a:r>
            <a:r>
              <a:rPr lang="pl"/>
              <a:t>– stops the others as soon as one succeeds (e.g., for racing)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4"/>
          <p:cNvSpPr txBox="1"/>
          <p:nvPr/>
        </p:nvSpPr>
        <p:spPr>
          <a:xfrm>
            <a:off x="5384000" y="2826950"/>
            <a:ext cx="2350800" cy="15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JAVA 25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38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(Fifth Preview)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https://openjdk.org/jeps/505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38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4"/>
          <p:cNvSpPr txBox="1"/>
          <p:nvPr/>
        </p:nvSpPr>
        <p:spPr>
          <a:xfrm>
            <a:off x="1668925" y="2826950"/>
            <a:ext cx="2733600" cy="1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JAVA 21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38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(Preview)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38100" rtl="0" algn="ctr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https://openjdk.org/jeps/453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Structured Concurrency + Scoped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675" y="1484775"/>
            <a:ext cx="641985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Virtual Threads + Spring Boot</a:t>
            </a:r>
            <a:endParaRPr/>
          </a:p>
        </p:txBody>
      </p:sp>
      <p:sp>
        <p:nvSpPr>
          <p:cNvPr id="338" name="Google Shape;338;p36"/>
          <p:cNvSpPr txBox="1"/>
          <p:nvPr>
            <p:ph idx="1" type="body"/>
          </p:nvPr>
        </p:nvSpPr>
        <p:spPr>
          <a:xfrm>
            <a:off x="1297500" y="1493925"/>
            <a:ext cx="7261800" cy="1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091"/>
              <a:t>To use Virtual </a:t>
            </a:r>
            <a:r>
              <a:rPr lang="pl" sz="1091"/>
              <a:t>Thread</a:t>
            </a:r>
            <a:r>
              <a:rPr lang="pl" sz="1091"/>
              <a:t> with spring boot you need add to properties   </a:t>
            </a:r>
            <a:r>
              <a:rPr b="1" lang="pl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spring.threads.virtual.enabled</a:t>
            </a:r>
            <a:r>
              <a:rPr b="1" lang="pl" sz="1100">
                <a:solidFill>
                  <a:srgbClr val="808080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l" sz="11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1" sz="1100">
              <a:solidFill>
                <a:srgbClr val="6AAB73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091">
                <a:solidFill>
                  <a:srgbClr val="FF0000"/>
                </a:solidFill>
              </a:rPr>
              <a:t>This is not always true</a:t>
            </a:r>
            <a:endParaRPr sz="109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091"/>
              <a:t>An example of virtual threads used by Spring Boot is shown below (code on the next slide)</a:t>
            </a:r>
            <a:endParaRPr sz="109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91"/>
          </a:p>
        </p:txBody>
      </p:sp>
      <p:pic>
        <p:nvPicPr>
          <p:cNvPr id="339" name="Google Shape;33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413" y="2429575"/>
            <a:ext cx="8034023" cy="5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813" y="3288000"/>
            <a:ext cx="8334375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6"/>
          <p:cNvSpPr/>
          <p:nvPr/>
        </p:nvSpPr>
        <p:spPr>
          <a:xfrm>
            <a:off x="3111425" y="3332400"/>
            <a:ext cx="417300" cy="240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2" name="Google Shape;342;p36"/>
          <p:cNvSpPr/>
          <p:nvPr/>
        </p:nvSpPr>
        <p:spPr>
          <a:xfrm>
            <a:off x="6635575" y="3332400"/>
            <a:ext cx="711600" cy="240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3" name="Google Shape;343;p36"/>
          <p:cNvSpPr/>
          <p:nvPr/>
        </p:nvSpPr>
        <p:spPr>
          <a:xfrm>
            <a:off x="6954825" y="3961175"/>
            <a:ext cx="711600" cy="240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4" name="Google Shape;344;p36"/>
          <p:cNvSpPr/>
          <p:nvPr/>
        </p:nvSpPr>
        <p:spPr>
          <a:xfrm>
            <a:off x="7936275" y="3754838"/>
            <a:ext cx="711600" cy="240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" name="Google Shape;345;p36"/>
          <p:cNvSpPr/>
          <p:nvPr/>
        </p:nvSpPr>
        <p:spPr>
          <a:xfrm>
            <a:off x="3411075" y="3961175"/>
            <a:ext cx="417300" cy="240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6" name="Google Shape;346;p36"/>
          <p:cNvSpPr/>
          <p:nvPr/>
        </p:nvSpPr>
        <p:spPr>
          <a:xfrm>
            <a:off x="4392775" y="3754850"/>
            <a:ext cx="417300" cy="240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7" name="Google Shape;347;p36"/>
          <p:cNvCxnSpPr/>
          <p:nvPr/>
        </p:nvCxnSpPr>
        <p:spPr>
          <a:xfrm flipH="1" rot="10800000">
            <a:off x="2723900" y="1874475"/>
            <a:ext cx="2257800" cy="93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Virtual Threads + Spring Boot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626" y="1425200"/>
            <a:ext cx="5041425" cy="335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Compare code </a:t>
            </a:r>
            <a:r>
              <a:rPr lang="pl"/>
              <a:t> (Compatible Future )</a:t>
            </a:r>
            <a:endParaRPr/>
          </a:p>
        </p:txBody>
      </p:sp>
      <p:pic>
        <p:nvPicPr>
          <p:cNvPr id="359" name="Google Shape;35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825" y="1592758"/>
            <a:ext cx="6448750" cy="26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Compare code (Virtual Threads)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5" name="Google Shape;36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725" y="1970675"/>
            <a:ext cx="6562725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Compatible Future </a:t>
            </a:r>
            <a:endParaRPr/>
          </a:p>
        </p:txBody>
      </p:sp>
      <p:pic>
        <p:nvPicPr>
          <p:cNvPr id="371" name="Google Shape;3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800" y="2126438"/>
            <a:ext cx="6902389" cy="1353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750" y="3697100"/>
            <a:ext cx="7086496" cy="12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0"/>
          <p:cNvSpPr txBox="1"/>
          <p:nvPr>
            <p:ph idx="1" type="body"/>
          </p:nvPr>
        </p:nvSpPr>
        <p:spPr>
          <a:xfrm>
            <a:off x="1297500" y="1449750"/>
            <a:ext cx="5863200" cy="4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Results between 51 ms and 223 ms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Blocking code </a:t>
            </a:r>
            <a:endParaRPr/>
          </a:p>
        </p:txBody>
      </p:sp>
      <p:pic>
        <p:nvPicPr>
          <p:cNvPr id="379" name="Google Shape;37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475" y="3705598"/>
            <a:ext cx="7600950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0200" y="2008685"/>
            <a:ext cx="5923599" cy="15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1"/>
          <p:cNvSpPr txBox="1"/>
          <p:nvPr>
            <p:ph idx="1" type="body"/>
          </p:nvPr>
        </p:nvSpPr>
        <p:spPr>
          <a:xfrm>
            <a:off x="1297500" y="1428613"/>
            <a:ext cx="5863200" cy="4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Results between 50 ms and 230 ms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Compatible Future</a:t>
            </a:r>
            <a:r>
              <a:rPr lang="pl"/>
              <a:t> + Virtual Threads</a:t>
            </a:r>
            <a:endParaRPr/>
          </a:p>
        </p:txBody>
      </p:sp>
      <p:pic>
        <p:nvPicPr>
          <p:cNvPr id="387" name="Google Shape;3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0" y="1906875"/>
            <a:ext cx="7038899" cy="1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4550" y="3631581"/>
            <a:ext cx="6792346" cy="117764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2"/>
          <p:cNvSpPr txBox="1"/>
          <p:nvPr>
            <p:ph idx="1" type="body"/>
          </p:nvPr>
        </p:nvSpPr>
        <p:spPr>
          <a:xfrm>
            <a:off x="1297500" y="1356500"/>
            <a:ext cx="5863200" cy="4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Results between 50 ms and 220 ms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Blocking</a:t>
            </a:r>
            <a:r>
              <a:rPr lang="pl"/>
              <a:t> code + Virtual </a:t>
            </a:r>
            <a:r>
              <a:rPr lang="pl"/>
              <a:t>Threads</a:t>
            </a:r>
            <a:endParaRPr/>
          </a:p>
        </p:txBody>
      </p:sp>
      <p:sp>
        <p:nvSpPr>
          <p:cNvPr id="395" name="Google Shape;395;p43"/>
          <p:cNvSpPr txBox="1"/>
          <p:nvPr>
            <p:ph idx="1" type="body"/>
          </p:nvPr>
        </p:nvSpPr>
        <p:spPr>
          <a:xfrm>
            <a:off x="1297500" y="1567550"/>
            <a:ext cx="5863200" cy="4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Results between 50 ms and 234ms</a:t>
            </a:r>
            <a:endParaRPr/>
          </a:p>
        </p:txBody>
      </p:sp>
      <p:pic>
        <p:nvPicPr>
          <p:cNvPr id="396" name="Google Shape;39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500" y="2095800"/>
            <a:ext cx="7661000" cy="14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375" y="3702450"/>
            <a:ext cx="7940749" cy="116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Final Test</a:t>
            </a:r>
            <a:endParaRPr/>
          </a:p>
        </p:txBody>
      </p:sp>
      <p:sp>
        <p:nvSpPr>
          <p:cNvPr id="403" name="Google Shape;403;p44"/>
          <p:cNvSpPr txBox="1"/>
          <p:nvPr/>
        </p:nvSpPr>
        <p:spPr>
          <a:xfrm>
            <a:off x="1452750" y="1685525"/>
            <a:ext cx="62133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BCBEC4"/>
                </a:solidFill>
                <a:latin typeface="Lato"/>
                <a:ea typeface="Lato"/>
                <a:cs typeface="Lato"/>
                <a:sym typeface="Lato"/>
              </a:rPr>
              <a:t>Running </a:t>
            </a:r>
            <a:r>
              <a:rPr b="1" lang="pl">
                <a:solidFill>
                  <a:srgbClr val="BCBEC4"/>
                </a:solidFill>
                <a:latin typeface="Courier New"/>
                <a:ea typeface="Courier New"/>
                <a:cs typeface="Courier New"/>
                <a:sym typeface="Courier New"/>
              </a:rPr>
              <a:t>IntStream.</a:t>
            </a:r>
            <a:r>
              <a:rPr b="1" i="1" lang="pl">
                <a:solidFill>
                  <a:srgbClr val="BCBEC4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1" lang="pl">
                <a:solidFill>
                  <a:srgbClr val="BCBEC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pl">
                <a:solidFill>
                  <a:srgbClr val="2AACB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pl">
                <a:solidFill>
                  <a:srgbClr val="BCBEC4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l">
                <a:solidFill>
                  <a:srgbClr val="2AACB8"/>
                </a:solidFill>
                <a:latin typeface="Courier New"/>
                <a:ea typeface="Courier New"/>
                <a:cs typeface="Courier New"/>
                <a:sym typeface="Courier New"/>
              </a:rPr>
              <a:t>100000</a:t>
            </a:r>
            <a:r>
              <a:rPr b="1" lang="pl">
                <a:solidFill>
                  <a:srgbClr val="BCBEC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pl">
                <a:solidFill>
                  <a:srgbClr val="BCBEC4"/>
                </a:solidFill>
                <a:latin typeface="Lato"/>
                <a:ea typeface="Lato"/>
                <a:cs typeface="Lato"/>
                <a:sym typeface="Lato"/>
              </a:rPr>
              <a:t> with virtual threads caused minor database issues from too many connections. Virtual threads weren’t enabled by just adding properties—I had to configure the executor explicitly.</a:t>
            </a:r>
            <a:endParaRPr>
              <a:solidFill>
                <a:srgbClr val="BCBEC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AACB8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04" name="Google Shape;40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025" y="3033550"/>
            <a:ext cx="5819775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Final Test</a:t>
            </a:r>
            <a:endParaRPr/>
          </a:p>
        </p:txBody>
      </p:sp>
      <p:sp>
        <p:nvSpPr>
          <p:cNvPr id="410" name="Google Shape;410;p45"/>
          <p:cNvSpPr txBox="1"/>
          <p:nvPr>
            <p:ph idx="1" type="body"/>
          </p:nvPr>
        </p:nvSpPr>
        <p:spPr>
          <a:xfrm>
            <a:off x="134775" y="2382938"/>
            <a:ext cx="1813800" cy="5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Without Virtual Threads</a:t>
            </a:r>
            <a:endParaRPr/>
          </a:p>
        </p:txBody>
      </p:sp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159600" y="3335338"/>
            <a:ext cx="1813800" cy="5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With Virtual Threads</a:t>
            </a:r>
            <a:endParaRPr/>
          </a:p>
        </p:txBody>
      </p:sp>
      <p:pic>
        <p:nvPicPr>
          <p:cNvPr id="412" name="Google Shape;41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5450" y="1419345"/>
            <a:ext cx="3562253" cy="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7938" y="1419345"/>
            <a:ext cx="3143308" cy="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2100" y="2452688"/>
            <a:ext cx="26955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0400" y="2452688"/>
            <a:ext cx="29146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07988" y="3450388"/>
            <a:ext cx="29432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22100" y="3431338"/>
            <a:ext cx="27527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2750" y="4413267"/>
            <a:ext cx="1996848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53048" y="3753438"/>
            <a:ext cx="2914650" cy="266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0" name="Google Shape;420;p45"/>
          <p:cNvCxnSpPr/>
          <p:nvPr/>
        </p:nvCxnSpPr>
        <p:spPr>
          <a:xfrm flipH="1" rot="10800000">
            <a:off x="1889550" y="4058775"/>
            <a:ext cx="378000" cy="2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45"/>
          <p:cNvCxnSpPr/>
          <p:nvPr/>
        </p:nvCxnSpPr>
        <p:spPr>
          <a:xfrm>
            <a:off x="701825" y="3101800"/>
            <a:ext cx="8034300" cy="101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45"/>
          <p:cNvCxnSpPr/>
          <p:nvPr/>
        </p:nvCxnSpPr>
        <p:spPr>
          <a:xfrm flipH="1" rot="10800000">
            <a:off x="750900" y="3229450"/>
            <a:ext cx="7818300" cy="888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Questions?</a:t>
            </a:r>
            <a:endParaRPr/>
          </a:p>
        </p:txBody>
      </p:sp>
      <p:pic>
        <p:nvPicPr>
          <p:cNvPr id="428" name="Google Shape;42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538" y="1173338"/>
            <a:ext cx="3273677" cy="3273677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6"/>
          <p:cNvSpPr txBox="1"/>
          <p:nvPr>
            <p:ph idx="1" type="body"/>
          </p:nvPr>
        </p:nvSpPr>
        <p:spPr>
          <a:xfrm>
            <a:off x="1050550" y="1911200"/>
            <a:ext cx="3093600" cy="5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b="1" lang="pl" sz="1702"/>
              <a:t>Thank you for your attention!</a:t>
            </a:r>
            <a:endParaRPr b="1" sz="1702"/>
          </a:p>
        </p:txBody>
      </p:sp>
      <p:sp>
        <p:nvSpPr>
          <p:cNvPr id="430" name="Google Shape;430;p46"/>
          <p:cNvSpPr txBox="1"/>
          <p:nvPr>
            <p:ph idx="1" type="body"/>
          </p:nvPr>
        </p:nvSpPr>
        <p:spPr>
          <a:xfrm>
            <a:off x="804575" y="3194800"/>
            <a:ext cx="29847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sources:</a:t>
            </a:r>
            <a:endParaRPr b="1"/>
          </a:p>
          <a:p>
            <a:pPr indent="-28019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l" u="sng">
                <a:solidFill>
                  <a:schemeClr val="hlink"/>
                </a:solidFill>
                <a:hlinkClick r:id="rId4"/>
              </a:rPr>
              <a:t>https://openjdk.org/</a:t>
            </a:r>
            <a:endParaRPr b="1"/>
          </a:p>
          <a:p>
            <a:pPr indent="-280193" lvl="0" marL="457200" rtl="0" algn="l">
              <a:spcBef>
                <a:spcPts val="300"/>
              </a:spcBef>
              <a:spcAft>
                <a:spcPts val="0"/>
              </a:spcAft>
              <a:buSzPct val="100000"/>
              <a:buChar char="●"/>
            </a:pPr>
            <a:r>
              <a:rPr b="1" lang="pl"/>
              <a:t>Presentation “Virtual Threads, 2 years later” by </a:t>
            </a:r>
            <a:r>
              <a:rPr b="1" lang="pl"/>
              <a:t>Adam Warski </a:t>
            </a:r>
            <a:r>
              <a:rPr b="1" lang="pl"/>
              <a:t>at the Devoxx conference</a:t>
            </a:r>
            <a:endParaRPr b="1"/>
          </a:p>
          <a:p>
            <a:pPr indent="-280193" lvl="0" marL="457200" rtl="0" algn="l">
              <a:spcBef>
                <a:spcPts val="300"/>
              </a:spcBef>
              <a:spcAft>
                <a:spcPts val="300"/>
              </a:spcAft>
              <a:buSzPct val="100000"/>
              <a:buChar char="●"/>
            </a:pPr>
            <a:r>
              <a:rPr b="1" lang="pl"/>
              <a:t>Presentation “Continuations: The magic behind virtual threads in Java” by Balkrishna Rawool at the Devoxx conference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